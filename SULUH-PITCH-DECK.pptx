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SULUH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Sovereign Educational AI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474720"/>
            <a:ext cx="27432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 Pendidikan Sultan Idris (UPSI) • Malaysia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July 2026 • Version 3.3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Sovereignty Gap in Educational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in emerging economies face an impossible choice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3716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560320"/>
            <a:ext cx="3840480" cy="1188720"/>
          </a:xfrm>
          <a:prstGeom prst="rect">
            <a:avLst/>
          </a:prstGeom>
          <a:solidFill>
            <a:srgbClr val="2A3A7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Foreign Cloud AI Anyway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PDPA/GDPR/FERPA risk, potential fines, and breach exposure. Student data leaves national jurisdiction.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3840480" cy="1188720"/>
          </a:xfrm>
          <a:prstGeom prst="rect">
            <a:avLst/>
          </a:prstGeom>
          <a:solidFill>
            <a:srgbClr val="2A3A7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Without AI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343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declining competitiveness against institutions that can afford sovereign infrastructure. Talent and funding migrate elsewhere.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303520"/>
            <a:ext cx="3840480" cy="1188720"/>
          </a:xfrm>
          <a:prstGeom prst="rect">
            <a:avLst/>
          </a:prstGeom>
          <a:solidFill>
            <a:srgbClr val="2A3A7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5349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Sovereign AI From Scratch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5715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computationally prohibitive. A 100B model requires RM 2M+ in hardware — unaffordable for a public university.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3931920" cy="1828800"/>
          </a:xfrm>
          <a:prstGeom prst="rect">
            <a:avLst/>
          </a:prstGeom>
          <a:solidFill>
            <a:srgbClr val="3B4C8F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651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 2M+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building a sovereign 100B model from scratch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840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universities cannot afford this. SULUH changes the math.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SULUH: Two Projects, One Vision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SULUH AI (the brain) + SULUH Ecosystem (the nervous system)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371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5603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SULUH AI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sovereign 35B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35B MoE sovereign teacher (Qwen3.6-35B-A3B)
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0.5–3B federated student models
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RM 450K budget (200K hardware + 250K manpower)
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5-node EXO cluster, 896 GB aggregate
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Apache 2.0 license — fully sovereign
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Academic publication track (ACL/EMNLP)
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5603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SULUH Ecosystem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3776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institutional harnesses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35661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Institutional Intelligence (HR/Research)
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Curriculum Knowledge API (accreditation)
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Instructional Engine (grading/tutoring)
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Intelligence (advising/at-risk)
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Separate operational IT budget
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PDPA/IRB gates enforced in code
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Model Lineup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confirmed on Ollama/library + HuggingFace, 20 July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371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3774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265176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957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Teacher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Kimi K3 / Claude Opus 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100B+ • API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3774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377440"/>
            <a:ext cx="2651760" cy="2743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3957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Teacher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Qwen3.6-35B-A3B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017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35B / 3B active • ~20 GB Q4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3246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source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3774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377440"/>
            <a:ext cx="26517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3957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SLM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 4:31b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3017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31B • ~18 GB Q4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3246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Grading/tutoring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23360"/>
            <a:ext cx="265176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0416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SLM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343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Qwen3.5:9b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4663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9B • ~6 GB Q8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892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NLP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40233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4023360"/>
            <a:ext cx="2651760" cy="2743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40416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4343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bge-m3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83280" y="4663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567M • ~1 GB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4892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40233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4023360"/>
            <a:ext cx="26517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40416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Student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4343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Qwen3.5:0.8b/2b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17920" y="4663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0.8–2B • 0.5–1.2 GB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4892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research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Hardware: 896 GB Aggregate, RM 200K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5-node EXO cluster — no datacenter rack needed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371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286000"/>
            <a:ext cx="1645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88950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aggregate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2286000"/>
            <a:ext cx="1645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233172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377440" y="288950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Mac + 3 DGX)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2286000"/>
            <a:ext cx="1645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33172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12U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206240" y="288950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wall-mount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286000"/>
            <a:ext cx="1645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33172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~150 GB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035040" y="288950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(RM)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(RM)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Studio M3 Ultra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GB unified, 2 TB SSD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DGX Spark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GB10 Superchip, 128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10GbE switch, NICs, TB5 cabling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Cabinet + 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12U wall-mount, cantilever shelves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200,000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Three-Track Model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what each tier of hardware can verifiably 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371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3774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26517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A — Cloud Teacher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K3 / Claude Opus 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API-only. Generates curriculum-grounded synthetic data from anonymised rubrics. No student PII ever touches foreign servers. Cost: ~RM 5K/year.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23774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377440"/>
            <a:ext cx="2651760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B — Sovereign Teacher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Qwen3.6-35B-A3B (MoE)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329184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35B total / 3B active per token. QLoRA adaptation on Malaysian academic corpus. Vision encoder reads scanned textbooks natively. Apache 2.0.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3774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377440"/>
            <a:ext cx="26517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C — Federated Student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Qwen3.5:0.8b / 2b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29184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0.5–3B models distilled from the sovereign teacher. Federated LoRA across 10,000 campus laptops. Differential privacy (APA-EF) on all gradient uploads.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35B, Not 70B or 100B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engineering for real institutional hardware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371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37744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Math: 70B Dense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(FP16): ~140 GB
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(128K ctx): ~100+ GB
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+ concurrent models: ~50 GB
</a:t>
            </a:r>
            <a:pPr algn="l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~290 GB
</a:t>
            </a:r>
            <a:pPr algn="l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Exceeds 256 GB Mac Studio
</a:t>
            </a:r>
            <a:pPr algn="l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run reliably on this stack
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377440"/>
            <a:ext cx="3931920" cy="3200400"/>
          </a:xfrm>
          <a:prstGeom prst="rect">
            <a:avLst/>
          </a:prstGeom>
          <a:solidFill>
            <a:srgbClr val="F0F7FF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Choice: 35B MoE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8346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params: 35B
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per token: 3B
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(Q4): ~20 GB
</a:t>
            </a:r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cache: ~40–80 GB
</a:t>
            </a:r>
            <a:pPr algn="l" indent="0" marL="0">
              <a:buNone/>
            </a:pPr>
            <a:r>
              <a:rPr lang="en-US" sz="14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~60–100 GB
</a:t>
            </a:r>
            <a:pPr algn="l" indent="0" marL="0">
              <a:buNone/>
            </a:pPr>
            <a:r>
              <a:rPr lang="en-US" sz="13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Fits comfortably in 256 GB
</a:t>
            </a:r>
            <a:pPr algn="l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150+ GB headroom
</a:t>
            </a:r>
            <a:pPr algn="l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inference + QLoRA jobs
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Foundational Proof: Psyche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Research proved distributed training works. SULUH proves it can be sovereign.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371600" cy="73152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Psyche (Nous Research)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SULUH Federated Swarm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Untrusted internet strangers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Trusted UPSI institutional laptops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 (Solana) or TCP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 Wi-Fi + 10GbE switch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explicit differential privacy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APA-EF differential privacy + secure aggregation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Incentive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 rewards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participation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models across many nodes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0.5–3B student models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Proves distributed training is feasible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Proves it can be private, educational, and sovereign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SULUH does not compete with Psyche. SULUH extends Psyche's proof into the sovereign educational domain — trading untrusted generality for privacy and pedagogical alignment.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Algorithmic Contributions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MA3 + APA-EF + LES-GA — publishable at NeurIPS/ICLR workshops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371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3774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26517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Adaptive Aggregation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adapter updates by device capability. Handles variance between Mac Studio (high-compute) and campus laptops (low-compute) in the same aggregation round.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23774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377440"/>
            <a:ext cx="2651760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APA-EF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Privacy-Aware Elastic Federated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329184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+ top-k sparsification on LoRA deltas. Secure aggregation ensures the server never inspects individual updates. 60–80% communication reduction.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3774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377440"/>
            <a:ext cx="26517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LES-GA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Elastic Search with Gradient Alignment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29184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faculty-local RAG indexes consistent with the global curriculum knowledge base. Propagates local curriculum updates without retraining the full model.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SULUH Ecosystem: Four Harnesses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applications consuming SULUH AI as inference backend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371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28600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86000"/>
            <a:ext cx="320040" cy="1737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377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Intelligence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BSM | Researchers: Dr. Ahmad Amri, Dr. Nurul Hila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92608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High / Confidential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28600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286000"/>
            <a:ext cx="320040" cy="1737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377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74920" y="23317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 Knowledge API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2651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PPA | Researchers: Dr. Amelia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292608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Low / Internal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206240"/>
            <a:ext cx="320040" cy="17373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297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8680" y="42519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Instructional Engine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45720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Pusat ICT / BHEA / BHEP | Researchers: Dr. Mohd Muslim, Dr. Ahmad Wiraputra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48463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Medium / PDPA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420624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4206240"/>
            <a:ext cx="320040" cy="17373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4297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074920" y="42519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Intelligence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45720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BHEA / BHEP | Researchers: Dr. Vasanthan, Pn. Nurul Ashikin, Jason Wong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48463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High /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Analysis: Breakeven Month 14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is now cheaper than cloud in the medium term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371600" cy="73152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22860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SULUH AI (sovereign)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240,000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300,000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CAPEX + low OPEX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AI (Anthropic)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180,000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540,000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15K/month equivalent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AI (OpenAI)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240,000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720,000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token costs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"sovereign"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400,000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900,000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US-headquartered, opaque pricing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846320"/>
            <a:ext cx="1645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89204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544982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86000" y="4846320"/>
            <a:ext cx="1645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77440" y="489204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 240K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2377440" y="544982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vs cloud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 36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0" y="4846320"/>
            <a:ext cx="1645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6240" y="489204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 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4206240" y="544982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0" y="4846320"/>
            <a:ext cx="1645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489204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 450K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6035040" y="544982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SULUH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Evaluation: 200-Entry Bilingual Golden Set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Malay/English, 5 domains, validated by 30+ UPSI researchers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371600" cy="73152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4114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Grading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85% agreement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BERTScore + expert panel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90% correct CLO/PLO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+ auditor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advising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80% satisfaction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Post-interaction survey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Malay fluency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90% grammatical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speaker panel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 verification + expert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3s grading, &lt; 1s chat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tracing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PDPA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IRB gate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IRB officer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Publication Plan: 5 Papers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output alongside production deployment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371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86000"/>
            <a:ext cx="32004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377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IsRAG: Provenance-Chain RAG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 / ACL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citations for educational 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108960"/>
            <a:ext cx="32004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004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3154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Dewan Council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3154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deliberation with confidence-gated routing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31920"/>
            <a:ext cx="32004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0233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3977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SULUH AI: A Sovereign Educational Model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/ EMNLP / Nature MI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35B MoE, three-track architecture, economic analysis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754880"/>
            <a:ext cx="32004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8463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68680" y="4800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Swarm at 10K Scale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0" y="4800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/ ICLR workshop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5120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MA3, APA-EF, LES-GA evaluated on real hardware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577840"/>
            <a:ext cx="32004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56692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8680" y="5623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Study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0" y="5623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 / AIED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Full-platform evaluation across 4 harnesses at UPSI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Timeline: 12 Months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hardware delivery to accreditation-ready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371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2331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delivery, EXO cluster setup, SSO integration, Phase 0 benchmark (Qwen3.6 vs Gemma4 vs Qwen3.5)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17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30175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corpus generation (cloud teacher), continual pre-training on Malaysian academic corpus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03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3703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tuning on grading/advising datasets, production SLM deployment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89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4389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adaptation on campus swarm, MA3/APA-EF/LES-GA evaluation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029200"/>
            <a:ext cx="822960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074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45920" y="5074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5074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alignment for safety/tone/institutional voice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71500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760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45920" y="5760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5760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Benchmarking, red-teaming, accreditation readiness, paper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Register: Top 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with mitigations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371600" cy="73152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3200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 integration 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0 critical path, Week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underperforms on bilingual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0 benchmark: Qwen3.6 vs Gemma4 vs Qwen3.5; swap paths maintained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delivery delays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Studio 7–10 business days; DGX Spark 2–4 weeks; buffer in 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swarm attrition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Incentive design, gamification, academic credit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PDPA non-compliance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Privacy-by-design, DPO Day 1, annual audit, APA-EF runtime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Governance: PDPA Enforced in Code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policy documents — code-level gates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371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 &amp; Purpose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opt-in per harness; educational use only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0" y="2331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pdpa_gate.py rejects non-consented queries at API boundary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Minimisation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7-year retention, 3-year auto-purge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0" y="3108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TTL + cron audit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at rest, TLS 1.3 in transit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3886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cert rotation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Privacy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ε-differential privacy on every swarm update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4663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APA-EF runtime — no device identifier in gradient payload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53949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440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5440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appointed Day 1, annual audit, 72-hour breach notification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5440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 officer review + LangFuse trace logging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Demarcation: AI vs Ecosystem vs SWARM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keep them separate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3716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3774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2651760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SULUH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sovereign 35B model and training pipeline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RM 450K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Researchers, peer reviewers, grant bodies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23774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377440"/>
            <a:ext cx="26517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SULUH Ecosystem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institutional harnesses + routing/orchestration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Separate operational IT budget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UPSI leadership, BSM, PPA, BHEA, Pusat ICT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23774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377440"/>
            <a:ext cx="26517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423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SULUH-SWARM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2834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R&amp;D planning document hosting both narratives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N/A (planning document)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UPSI Research Management, external auditors, partners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200400" y="1737360"/>
            <a:ext cx="27432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solidFill>
            <a:srgbClr val="2A3A7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SULUH AI Budget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450,000 — RM 200K hardware (2× Mac Studio + 3× DGX Spark) + RM 250K manpower (phased hiring over 12 months)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solidFill>
            <a:srgbClr val="2A3A7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Ecosystem Harness Budget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operational IT budget for 4 harnesses. Hardware reuse from SULUH AI cluster. No additional compute purchase needed.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663440"/>
            <a:ext cx="7680960" cy="1097280"/>
          </a:xfrm>
          <a:prstGeom prst="rect">
            <a:avLst/>
          </a:prstGeom>
          <a:solidFill>
            <a:srgbClr val="2A3A7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 DPO &amp; IRB Liaison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appointment. PDPA compliance is not an afterthought — it is enforced in code from the first commit.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review: 19 August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2026-07-19T23:06:27Z</dcterms:created>
  <dcterms:modified xsi:type="dcterms:W3CDTF">2026-07-19T23:06:27Z</dcterms:modified>
</cp:coreProperties>
</file>