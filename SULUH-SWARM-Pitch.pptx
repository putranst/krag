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motto: SULUH is not a brand we invented — it is the word at the centre of UPSI's own motto, Pengetahuan Suluh Budiman. This is a funding decision: RM 450K, 12 months, breakeven month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emotional argument first: UPSI has been first before. 1922 first teacher college, 1997 first education university, 2006 early LMS pioneer with MyGuru. SULUH is the fourth first — and the name was already in our motto.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Situation-complication-resolution on one slide. The number to remember is RM 450K; the reason is that sovereignty now pays for itself — and, since June 2025, protects the people in this room personally.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spine of the pitch: six questions in order, resolving into one decision. Tell them where we're going.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Three forces converged in 24 months: students adopted AI en masse, universities became the most-attacked sector on earth, and Malaysian law grew teeth. Any one alone justifies sovereignty. Together they make it urgent.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Force one: adoption already happened without us. HEPI 2026: 95% of students use AI, 94% on assessed work — but only 38% of institutions provide tools. The gap is shadow AI: coursework and personal data flowing into foreign consumer chatbots today, ungoverned.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Force two: the threat is not hypothetical. Education is now the most-attacked sector globally. Walk the three case studies — Phoenix, Columbia, PowerSchool. Universities are target-rich and cyber-poor; every foreign vendor multiplies the attack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Force three: PDPA grew teeth in 2025. RM 1M fines, personal liability reaching directors and officers, 72-hour notification, mandatory DPO, and a stricter cross-border regime. This is the slide for top management: the risk is now personal.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of the legal case: jurisdiction, consent, breach accountability. Sovereignty is the design constraint, not a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case. Cloud is an operating expense that compounds forever; sovereign is a one-time build. Preview the breakeven proven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Part One with urgency for top management: the sovereign-AI wave is cresting now. 100+ countries signed the Bangkok Declaration; Malaysia's national momentum is real but no university has staked the higher-ed claim. The first mover defines the standard, wins the partnerships, and hosts the benchmark. Every semester of delay is money and data leaving.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Define the thing precisely so funders know exactly what they are buying — and where it sits in the regional landscape.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AI/Ecosystem split and why it matters for funding: research grant vs operational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technical choice that de-risks the whole build: 35B MoE, not 70B or 100B. It fits our hardware six times over. Walk the memory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slide for leadership: where SULUH sits among SEA sovereign AI programmes. Singapore spent S$70M nationally; ILMU is corporate-backed with a 500MW data centre; Sahabat-AI is a corporate ecosystem. Nobody has built education-domain, university-owned, on-campus sovereign AI. SULUH does it for ~0.2% of Singapore's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Ownership and accountability — and what the institution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Consolidation story: from 7 duplicated backends to 4 harnesses on one data fabric, with named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'what does UPSI get' slide for the VC's office. Four dimensions of uplift: research standing (a 10,000-device testbed and five papers), teaching and learning, talent and capability, national positioning. Malaysia's education university leading educational AI is a strategic fit no other campus can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Physical footprint — reassure that this fits in a wall cabinet, not a data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topology: EXO cluster of 5 nodes aggregating 896 GB, plus the laptop swarm that exchanges only adapter deltas. Form factor: 12U wall cabinet.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Timeline and momentum — sovereign serving is live from Month 2, not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parallel tracks: cloud teacher (anonymised only), sovereign teacher (serving M2, DPO by M10), federated student swarm. Emphasise matched to what each tier can verifiably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The how splits into four proofs: research contribution incl. IsRAG, governance, and economics. This is where credibility is won.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swarm is the research engine. Three algorithms, validated at 10,000-device scale. Psyche proves distributed training works; SULUH's contribution is doing it safely inside an institution.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 differentiator. Open with the evidence strip: peer-reviewed studies show chatbots fabricate 18-56% of academic citations, worst on niche and low-resource topics — exactly our Malay-language domain. In education a fabricated citation is a defective teaching act. IsRAG attacks it architecturally: every answer carries a provenance chain, 5-factor trust score, and cultural-context tag, adapted from the millennium-old Isnad methodology. Target: ≤5% on the golden set — up to 10x fewer false citations than the chatbots students use today. No frontier model offers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PDPA is enforced in code at Layer 3, once, for all apps. Walk the gates. This answers the RM 1M / personal liability slide from Part One — gate by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proof. Breakeven Month 14; RM 240-600K saved by Month 36. This closes the loop opened in Why-Economics.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De-risk further: this isn't a hope, it's measurable. 8-metric golden-set eval and 5 planned papers. Show accreditation-readiness intent.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question before it's asked: what could go wrong, and what's already in place. Five risks that matter most to leadership; the full ten-item register is in the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Restate the ask as a decision with three defined outcomes. Make the yes easy — and remind them the torch is in the motto.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gradFill rotWithShape="1">
            <a:gsLst>
              <a:gs pos="0">
                <a:srgbClr val="C8102E">
                  <a:alpha val="100000"/>
                </a:srgbClr>
              </a:gs>
              <a:gs pos="55000">
                <a:srgbClr val="7B2D8E">
                  <a:alpha val="100000"/>
                </a:srgbClr>
              </a:gs>
              <a:gs pos="100000">
                <a:srgbClr val="1F4E9E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2573000" y="-2476500"/>
            <a:ext cx="7810500" cy="7810500"/>
          </a:xfrm>
          <a:prstGeom prst="ellipse">
            <a:avLst/>
          </a:prstGeom>
          <a:gradFill rotWithShape="1">
            <a:gsLst>
              <a:gs pos="0">
                <a:srgbClr val="C8102E">
                  <a:alpha val="10000"/>
                </a:srgbClr>
              </a:gs>
              <a:gs pos="45000">
                <a:srgbClr val="7B2D8E">
                  <a:alpha val="6000"/>
                </a:srgbClr>
              </a:gs>
              <a:gs pos="70000">
                <a:srgbClr val="7B2D8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1143000" y="952500"/>
            <a:ext cx="73633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FUNDING PROPOSAL · UNIVERSITI PENDIDIKAN SULTAN IDRIS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1143000" y="1428750"/>
            <a:ext cx="762000" cy="28575"/>
          </a:xfrm>
          <a:prstGeom prst="rect">
            <a:avLst/>
          </a:prstGeom>
          <a:gradFill rotWithShape="1">
            <a:gsLst>
              <a:gs pos="0">
                <a:srgbClr val="C8102E">
                  <a:alpha val="100000"/>
                </a:srgbClr>
              </a:gs>
              <a:gs pos="50000">
                <a:srgbClr val="7B2D8E">
                  <a:alpha val="100000"/>
                </a:srgbClr>
              </a:gs>
              <a:gs pos="100000">
                <a:srgbClr val="1F4E9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5068401" y="952500"/>
            <a:ext cx="2076599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2222"/>
              </a:lnSpc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Pengetahuan </a:t>
            </a:r>
            <a:pPr algn="r" indent="0" marL="0">
              <a:lnSpc>
                <a:spcPct val="132222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</a:t>
            </a:r>
            <a:pPr algn="r" indent="0" marL="0">
              <a:lnSpc>
                <a:spcPct val="132222"/>
              </a:lnSpc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Budiman Est. 1922 · Tanjung Malim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43000" y="3350568"/>
            <a:ext cx="155067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8400" spc="-168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SULUH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1143000" y="4645968"/>
            <a:ext cx="12753975" cy="1014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45"/>
              </a:lnSpc>
              <a:buNone/>
            </a:pPr>
            <a:r>
              <a:rPr lang="en-US" sz="3150" spc="-31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Southeast Asia's first university-built sovereign educational AI — trained, governed, and served entirely inside UPSI.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143000" y="5888682"/>
            <a:ext cx="1030128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35-billion-parameter model bound to four institutional harnesses under one PDPA-compliant governance layer. Malaysian student data never leaves Malaysian soil.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8467725"/>
            <a:ext cx="16002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8724900"/>
            <a:ext cx="17165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ASK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43000" y="8943975"/>
            <a:ext cx="171650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450,000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236863" y="8724900"/>
            <a:ext cx="15770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TIMELINE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236863" y="8943975"/>
            <a:ext cx="157702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 months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203924" y="8724900"/>
            <a:ext cx="14110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BREAKEVEN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03924" y="8943975"/>
            <a:ext cx="14110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Month 14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020074" y="8724900"/>
            <a:ext cx="8340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LICENSING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020074" y="8943975"/>
            <a:ext cx="83403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0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148471" y="8907959"/>
            <a:ext cx="1996529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444"/>
              </a:lnSpc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v3.3 · 21 July 2026 UPSI Research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476250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C8102E">
                  <a:alpha val="16000"/>
                </a:srgbClr>
              </a:gs>
              <a:gs pos="45000">
                <a:srgbClr val="7B2D8E">
                  <a:alpha val="8000"/>
                </a:srgbClr>
              </a:gs>
              <a:gs pos="70000">
                <a:srgbClr val="7B2D8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857250"/>
            <a:ext cx="26750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E44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UPSI · WHY THE NAME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344900" y="86677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02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1419225"/>
            <a:ext cx="15304770" cy="1275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228"/>
              </a:lnSpc>
              <a:buNone/>
            </a:pPr>
            <a:r>
              <a:rPr lang="en-US" sz="4350" spc="-65" kern="0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UPSI has been first before. </a:t>
            </a:r>
            <a:pPr algn="l" indent="0" marL="0">
              <a:lnSpc>
                <a:spcPct val="82228"/>
              </a:lnSpc>
              <a:buNone/>
            </a:pPr>
            <a:r>
              <a:rPr lang="en-US" sz="4350" spc="-65" kern="0" dirty="0">
                <a:solidFill>
                  <a:srgbClr val="9AA3B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torch is already in our motto — </a:t>
            </a:r>
            <a:pPr algn="l" indent="0" marL="0">
              <a:lnSpc>
                <a:spcPct val="82228"/>
              </a:lnSpc>
              <a:buNone/>
            </a:pPr>
            <a:r>
              <a:rPr lang="en-US" sz="4350" i="1" spc="-65" kern="0" dirty="0">
                <a:gradFill rotWithShape="1">
                  <a:gsLst>
                    <a:gs pos="0">
                      <a:srgbClr val="FF5A6E">
                        <a:alpha val="100000"/>
                      </a:srgbClr>
                    </a:gs>
                    <a:gs pos="50000">
                      <a:srgbClr val="C86BE0">
                        <a:alpha val="100000"/>
                      </a:srgbClr>
                    </a:gs>
                    <a:gs pos="100000">
                      <a:srgbClr val="6B9BFF">
                        <a:alpha val="100000"/>
                      </a:srgbClr>
                    </a:gs>
                  </a:gsLst>
                  <a:lin ang="600000" scaled="0"/>
                </a:gra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Pengetahuan Suluh Budiman.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143000" y="4773216"/>
            <a:ext cx="3814763" cy="28575"/>
          </a:xfrm>
          <a:prstGeom prst="rect">
            <a:avLst/>
          </a:prstGeom>
          <a:solidFill>
            <a:srgbClr val="3A414D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049441"/>
            <a:ext cx="4196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1922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5354241"/>
            <a:ext cx="41962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22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First teachers' college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43000" y="5792391"/>
            <a:ext cx="3929205" cy="835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Sultan Idris Training College opens in Tanjung Malim — the cradle of Malay education and intellect.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05413" y="4773216"/>
            <a:ext cx="3814763" cy="28575"/>
          </a:xfrm>
          <a:prstGeom prst="rect">
            <a:avLst/>
          </a:prstGeom>
          <a:solidFill>
            <a:srgbClr val="3A414D"/>
          </a:solidFill>
          <a:ln/>
        </p:spPr>
      </p:sp>
      <p:sp>
        <p:nvSpPr>
          <p:cNvPr id="11" name="Text 9"/>
          <p:cNvSpPr/>
          <p:nvPr/>
        </p:nvSpPr>
        <p:spPr>
          <a:xfrm>
            <a:off x="5205413" y="5049441"/>
            <a:ext cx="4196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1997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05413" y="5354241"/>
            <a:ext cx="41962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22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First education university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205413" y="5792391"/>
            <a:ext cx="3929205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SITC becomes UPSI — Malaysia's first university dedicated to education itself.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267825" y="4773216"/>
            <a:ext cx="3814763" cy="28575"/>
          </a:xfrm>
          <a:prstGeom prst="rect">
            <a:avLst/>
          </a:prstGeom>
          <a:solidFill>
            <a:srgbClr val="3A414D"/>
          </a:solidFill>
          <a:ln/>
        </p:spPr>
      </p:sp>
      <p:sp>
        <p:nvSpPr>
          <p:cNvPr id="15" name="Text 13"/>
          <p:cNvSpPr/>
          <p:nvPr/>
        </p:nvSpPr>
        <p:spPr>
          <a:xfrm>
            <a:off x="9267825" y="5049441"/>
            <a:ext cx="4196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67825" y="5354241"/>
            <a:ext cx="41962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22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Digital pioneer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267825" y="5792391"/>
            <a:ext cx="3929205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MyGuru makes UPSI an early national adopter of open-source learning platforms.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3158788" y="4773216"/>
            <a:ext cx="4157663" cy="2406700"/>
          </a:xfrm>
          <a:custGeom>
            <a:avLst/>
            <a:gdLst/>
            <a:ahLst/>
            <a:cxnLst/>
            <a:rect l="l" t="t" r="r" b="b"/>
            <a:pathLst>
              <a:path w="4157663" h="2406700">
                <a:moveTo>
                  <a:pt x="0" y="0"/>
                </a:moveTo>
                <a:lnTo>
                  <a:pt x="4157663" y="0"/>
                </a:lnTo>
                <a:lnTo>
                  <a:pt x="4157663" y="2292400"/>
                </a:lnTo>
                <a:arcTo hR="114300" wR="114300" stAng="0" swAng="5400000"/>
                <a:lnTo>
                  <a:pt x="114300" y="2406700"/>
                </a:lnTo>
                <a:arcTo hR="114300" w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C8102E">
              <a:alpha val="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158788" y="4773216"/>
            <a:ext cx="4157663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5A6E">
                  <a:alpha val="100000"/>
                </a:srgbClr>
              </a:gs>
              <a:gs pos="50000">
                <a:srgbClr val="C86BE0">
                  <a:alpha val="100000"/>
                </a:srgbClr>
              </a:gs>
              <a:gs pos="100000">
                <a:srgbClr val="6B9BF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13330238" y="5049441"/>
            <a:ext cx="4196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5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330238" y="5354241"/>
            <a:ext cx="392920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22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First sovereign educational AI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330238" y="6135291"/>
            <a:ext cx="3929205" cy="835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SULUH — to our knowledge, the first higher-education-focused sovereign AI built and owned by a university in Southeast Asia.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143000" y="9296400"/>
            <a:ext cx="16002000" cy="952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9458325"/>
            <a:ext cx="164820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(Malay): a torch — the light that guides. The system is named by the university's own founding motto.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19771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EXECUTIVE SUMMARY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03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5304770" cy="154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 RM 450K over 12 months, UPSI owns a sovereign educational AI that reaches cost-parity with the cloud by Month 14 — and never sends a single student record offshore.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52500" y="4935289"/>
            <a:ext cx="796379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SITUATION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63179" y="4897189"/>
            <a:ext cx="775202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0"/>
              </a:lnSpc>
              <a:buNone/>
            </a:pPr>
            <a:r>
              <a:rPr lang="en-US" sz="157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of students already use AI. UPSI's grading, advising, and analytics are heading the same way — and every leading option runs in a foreign cloud.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952500" y="5802957"/>
            <a:ext cx="1036439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3239" y="5764857"/>
            <a:ext cx="7504764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0"/>
              </a:lnSpc>
              <a:buNone/>
            </a:pPr>
            <a:r>
              <a:rPr lang="en-US" sz="157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AI puts student PII under foreign jurisdiction just as PDPA penalties rose to </a:t>
            </a:r>
            <a:pPr algn="l" indent="0" marL="0">
              <a:lnSpc>
                <a:spcPct val="130200"/>
              </a:lnSpc>
              <a:buNone/>
            </a:pPr>
            <a:r>
              <a:rPr lang="en-US" sz="157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 1 million with personal liability for officers </a:t>
            </a:r>
            <a:pPr algn="l" indent="0" marL="0">
              <a:lnSpc>
                <a:spcPct val="130200"/>
              </a:lnSpc>
              <a:buNone/>
            </a:pPr>
            <a:r>
              <a:rPr lang="en-US" sz="157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and bills compound at RM 15–25K monthly, forever.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952500" y="6980634"/>
            <a:ext cx="876300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43100" y="6942534"/>
            <a:ext cx="7669707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0"/>
              </a:lnSpc>
              <a:buNone/>
            </a:pPr>
            <a:r>
              <a:rPr lang="en-US" sz="157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it on-premise once. A 35B sovereign model, four harnesses, and IsRAG provenance on every answer — </a:t>
            </a:r>
            <a:pPr algn="l" indent="0" marL="0">
              <a:lnSpc>
                <a:spcPct val="130200"/>
              </a:lnSpc>
              <a:buNone/>
            </a:pPr>
            <a:r>
              <a:rPr lang="en-US" sz="157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 0 software licensing </a:t>
            </a:r>
            <a:pPr algn="l" indent="0" marL="0">
              <a:lnSpc>
                <a:spcPct val="130200"/>
              </a:lnSpc>
              <a:buNone/>
            </a:pPr>
            <a:r>
              <a:rPr lang="en-US" sz="157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breakeven in 14 months.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999018" y="4417963"/>
            <a:ext cx="7336334" cy="3933825"/>
          </a:xfrm>
          <a:prstGeom prst="roundRect">
            <a:avLst>
              <a:gd name="adj" fmla="val 3874"/>
            </a:avLst>
          </a:prstGeom>
          <a:solidFill>
            <a:srgbClr val="10131A"/>
          </a:solidFill>
          <a:ln/>
        </p:spPr>
      </p:sp>
      <p:sp>
        <p:nvSpPr>
          <p:cNvPr id="13" name="Shape 11"/>
          <p:cNvSpPr/>
          <p:nvPr/>
        </p:nvSpPr>
        <p:spPr>
          <a:xfrm>
            <a:off x="9999018" y="4417963"/>
            <a:ext cx="7336334" cy="38100"/>
          </a:xfrm>
          <a:prstGeom prst="rect">
            <a:avLst/>
          </a:prstGeom>
          <a:gradFill rotWithShape="1">
            <a:gsLst>
              <a:gs pos="0">
                <a:srgbClr val="C8102E">
                  <a:alpha val="100000"/>
                </a:srgbClr>
              </a:gs>
              <a:gs pos="50000">
                <a:srgbClr val="7B2D8E">
                  <a:alpha val="100000"/>
                </a:srgbClr>
              </a:gs>
              <a:gs pos="100000">
                <a:srgbClr val="1F4E9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10437168" y="4837063"/>
            <a:ext cx="71060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RM 450K BUYS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437168" y="5751463"/>
            <a:ext cx="6460034" cy="952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16" name="Text 14"/>
          <p:cNvSpPr/>
          <p:nvPr/>
        </p:nvSpPr>
        <p:spPr>
          <a:xfrm>
            <a:off x="10437168" y="5341888"/>
            <a:ext cx="252016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9C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compute cluster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5847665" y="5256163"/>
            <a:ext cx="11257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200K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437168" y="6465838"/>
            <a:ext cx="6460034" cy="952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19" name="Text 17"/>
          <p:cNvSpPr/>
          <p:nvPr/>
        </p:nvSpPr>
        <p:spPr>
          <a:xfrm>
            <a:off x="10437168" y="6056263"/>
            <a:ext cx="23109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9C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team, 12 mo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5847665" y="5970538"/>
            <a:ext cx="11257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250K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37168" y="6770638"/>
            <a:ext cx="221861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9C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OPEX thereafter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5983248" y="6684913"/>
            <a:ext cx="9901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30K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37168" y="7313563"/>
            <a:ext cx="6460034" cy="190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437168" y="7694563"/>
            <a:ext cx="224431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36-MO SAVING VS CLOUD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017948" y="7542163"/>
            <a:ext cx="206717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8A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240–600K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Sources: SULUH v3.3 economic analysis · HEPI Student Generative AI Survey 2026 · PDPA (Amendment) Act 2024 · model tags verified live 20 Jul 2026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2097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THIS DECK READS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04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6685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Six questions, one decision.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2465933"/>
            <a:ext cx="2571750" cy="6868567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9324975"/>
            <a:ext cx="257175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465933"/>
            <a:ext cx="257175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2465933"/>
            <a:ext cx="9525" cy="6868567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0" name="Shape 8"/>
          <p:cNvSpPr/>
          <p:nvPr/>
        </p:nvSpPr>
        <p:spPr>
          <a:xfrm>
            <a:off x="3514725" y="2465933"/>
            <a:ext cx="9525" cy="6868567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1" name="Text 9"/>
          <p:cNvSpPr/>
          <p:nvPr/>
        </p:nvSpPr>
        <p:spPr>
          <a:xfrm>
            <a:off x="1190625" y="2789783"/>
            <a:ext cx="23050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Why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190625" y="3618458"/>
            <a:ext cx="2171700" cy="117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moved first, attackers moved next, the law moved last — the cloud is now the wrong foundation.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3714750" y="2465933"/>
            <a:ext cx="2571750" cy="6868567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714750" y="9324975"/>
            <a:ext cx="257175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714750" y="2465933"/>
            <a:ext cx="257175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Shape 14"/>
          <p:cNvSpPr/>
          <p:nvPr/>
        </p:nvSpPr>
        <p:spPr>
          <a:xfrm>
            <a:off x="3714750" y="2465933"/>
            <a:ext cx="9525" cy="6868567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6975" y="2465933"/>
            <a:ext cx="9525" cy="6868567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8" name="Text 16"/>
          <p:cNvSpPr/>
          <p:nvPr/>
        </p:nvSpPr>
        <p:spPr>
          <a:xfrm>
            <a:off x="3952875" y="2789783"/>
            <a:ext cx="23050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3952875" y="3618458"/>
            <a:ext cx="217170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system, two fundable halves — and a first-of-its-kind position in the region.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6477000" y="2465933"/>
            <a:ext cx="2571750" cy="6868567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7000" y="9324975"/>
            <a:ext cx="257175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2" name="Shape 20"/>
          <p:cNvSpPr/>
          <p:nvPr/>
        </p:nvSpPr>
        <p:spPr>
          <a:xfrm>
            <a:off x="6477000" y="2465933"/>
            <a:ext cx="257175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7000" y="2465933"/>
            <a:ext cx="9525" cy="6868567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4" name="Shape 22"/>
          <p:cNvSpPr/>
          <p:nvPr/>
        </p:nvSpPr>
        <p:spPr>
          <a:xfrm>
            <a:off x="9039225" y="2465933"/>
            <a:ext cx="9525" cy="6868567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5" name="Text 23"/>
          <p:cNvSpPr/>
          <p:nvPr/>
        </p:nvSpPr>
        <p:spPr>
          <a:xfrm>
            <a:off x="6715125" y="2789783"/>
            <a:ext cx="23050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Who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6715125" y="3618458"/>
            <a:ext cx="217170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harnesses owned by the UPSI units that live the problem — and what UPSI gains.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9239250" y="2465933"/>
            <a:ext cx="2571750" cy="6868567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239250" y="9324975"/>
            <a:ext cx="257175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9" name="Shape 27"/>
          <p:cNvSpPr/>
          <p:nvPr/>
        </p:nvSpPr>
        <p:spPr>
          <a:xfrm>
            <a:off x="9239250" y="2465933"/>
            <a:ext cx="257175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9250" y="2465933"/>
            <a:ext cx="9525" cy="6868567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01475" y="2465933"/>
            <a:ext cx="9525" cy="6868567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2" name="Text 30"/>
          <p:cNvSpPr/>
          <p:nvPr/>
        </p:nvSpPr>
        <p:spPr>
          <a:xfrm>
            <a:off x="9477375" y="2789783"/>
            <a:ext cx="23050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Where</a:t>
            </a:r>
            <a:endParaRPr lang="en-US" sz="3900" dirty="0"/>
          </a:p>
        </p:txBody>
      </p:sp>
      <p:sp>
        <p:nvSpPr>
          <p:cNvPr id="33" name="Text 31"/>
          <p:cNvSpPr/>
          <p:nvPr/>
        </p:nvSpPr>
        <p:spPr>
          <a:xfrm>
            <a:off x="9477375" y="3618458"/>
            <a:ext cx="217170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desktop nodes and 10,000 laptops, all inside the firewall.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12001500" y="2465933"/>
            <a:ext cx="2571750" cy="6868567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01500" y="9324975"/>
            <a:ext cx="257175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2001500" y="2465933"/>
            <a:ext cx="257175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01500" y="2465933"/>
            <a:ext cx="9525" cy="6868567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4563725" y="2465933"/>
            <a:ext cx="9525" cy="6868567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9" name="Text 37"/>
          <p:cNvSpPr/>
          <p:nvPr/>
        </p:nvSpPr>
        <p:spPr>
          <a:xfrm>
            <a:off x="12239625" y="2789783"/>
            <a:ext cx="23050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When</a:t>
            </a:r>
            <a:endParaRPr lang="en-US" sz="3900" dirty="0"/>
          </a:p>
        </p:txBody>
      </p:sp>
      <p:sp>
        <p:nvSpPr>
          <p:cNvPr id="40" name="Text 38"/>
          <p:cNvSpPr/>
          <p:nvPr/>
        </p:nvSpPr>
        <p:spPr>
          <a:xfrm>
            <a:off x="12239625" y="3618458"/>
            <a:ext cx="217170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tracks in parallel; sovereign serving live from Month 2.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14763750" y="2465933"/>
            <a:ext cx="2571750" cy="6868567"/>
          </a:xfrm>
          <a:prstGeom prst="roundRect">
            <a:avLst>
              <a:gd name="adj" fmla="val 3704"/>
            </a:avLst>
          </a:prstGeom>
          <a:solidFill>
            <a:srgbClr val="10131A"/>
          </a:solidFill>
          <a:ln/>
        </p:spPr>
      </p:sp>
      <p:sp>
        <p:nvSpPr>
          <p:cNvPr id="42" name="Shape 40"/>
          <p:cNvSpPr/>
          <p:nvPr/>
        </p:nvSpPr>
        <p:spPr>
          <a:xfrm>
            <a:off x="14763750" y="9324975"/>
            <a:ext cx="2571750" cy="9525"/>
          </a:xfrm>
          <a:prstGeom prst="rect">
            <a:avLst/>
          </a:prstGeom>
          <a:solidFill>
            <a:srgbClr val="10131A"/>
          </a:solidFill>
          <a:ln/>
        </p:spPr>
      </p:sp>
      <p:sp>
        <p:nvSpPr>
          <p:cNvPr id="43" name="Shape 41"/>
          <p:cNvSpPr/>
          <p:nvPr/>
        </p:nvSpPr>
        <p:spPr>
          <a:xfrm>
            <a:off x="14763750" y="2465933"/>
            <a:ext cx="257175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4" name="Shape 42"/>
          <p:cNvSpPr/>
          <p:nvPr/>
        </p:nvSpPr>
        <p:spPr>
          <a:xfrm>
            <a:off x="14763750" y="2465933"/>
            <a:ext cx="9525" cy="6868567"/>
          </a:xfrm>
          <a:prstGeom prst="rect">
            <a:avLst/>
          </a:prstGeom>
          <a:solidFill>
            <a:srgbClr val="10131A"/>
          </a:solidFill>
          <a:ln/>
        </p:spPr>
      </p:sp>
      <p:sp>
        <p:nvSpPr>
          <p:cNvPr id="45" name="Shape 43"/>
          <p:cNvSpPr/>
          <p:nvPr/>
        </p:nvSpPr>
        <p:spPr>
          <a:xfrm>
            <a:off x="17325975" y="2465933"/>
            <a:ext cx="9525" cy="6868567"/>
          </a:xfrm>
          <a:prstGeom prst="rect">
            <a:avLst/>
          </a:prstGeom>
          <a:solidFill>
            <a:srgbClr val="10131A"/>
          </a:solidFill>
          <a:ln/>
        </p:spPr>
      </p:sp>
      <p:sp>
        <p:nvSpPr>
          <p:cNvPr id="46" name="Text 44"/>
          <p:cNvSpPr/>
          <p:nvPr/>
        </p:nvSpPr>
        <p:spPr>
          <a:xfrm>
            <a:off x="15001875" y="2789783"/>
            <a:ext cx="23050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</a:t>
            </a:r>
            <a:endParaRPr lang="en-US" sz="3900" dirty="0"/>
          </a:p>
        </p:txBody>
      </p:sp>
      <p:sp>
        <p:nvSpPr>
          <p:cNvPr id="47" name="Text 45"/>
          <p:cNvSpPr/>
          <p:nvPr/>
        </p:nvSpPr>
        <p:spPr>
          <a:xfrm>
            <a:off x="15001875" y="3618458"/>
            <a:ext cx="217170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Novel research incl. IsRAG, governance in code, and economics that break even.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49" name="Text 47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last question — How — resolves into the decision on the final slide.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96750" y="-1905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C8102E">
                  <a:alpha val="18000"/>
                </a:srgbClr>
              </a:gs>
              <a:gs pos="45000">
                <a:srgbClr val="7B2D8E">
                  <a:alpha val="10000"/>
                </a:srgbClr>
              </a:gs>
              <a:gs pos="70000">
                <a:srgbClr val="7B2D8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148905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3" kern="0" dirty="0">
                <a:solidFill>
                  <a:srgbClr val="FF5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ONE · THE IMPERATIVE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3000" y="3587055"/>
            <a:ext cx="17602200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973"/>
              </a:lnSpc>
              <a:buNone/>
            </a:pPr>
            <a:r>
              <a:rPr lang="en-US" sz="14250" spc="-285" kern="0" dirty="0">
                <a:gradFill rotWithShape="1">
                  <a:gsLst>
                    <a:gs pos="30000">
                      <a:srgbClr val="FAF9F5">
                        <a:alpha val="100000"/>
                      </a:srgbClr>
                    </a:gs>
                    <a:gs pos="75000">
                      <a:srgbClr val="FF8A97">
                        <a:alpha val="100000"/>
                      </a:srgbClr>
                    </a:gs>
                    <a:gs pos="100000">
                      <a:srgbClr val="C86BE0">
                        <a:alpha val="100000"/>
                      </a:srgbClr>
                    </a:gs>
                  </a:gsLst>
                  <a:lin ang="600000" scaled="0"/>
                </a:gra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Why.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1143000" y="5537746"/>
            <a:ext cx="1079182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forces converged in twenty-four months: students adopted AI faster than any technology in university history, universities became the world's most-attacked sector, and Malaysian law grew teeth. The foreign cloud is now the wrong foundation.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344900" y="9353550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30239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· 01 THE ADOPTION WAVE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06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5304770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question is no longer whether UPSI adopts AI — students already did. The question is whose AI, under whose law.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4151858"/>
            <a:ext cx="7529215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6825" y="4409033"/>
            <a:ext cx="19907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54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95%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343275" y="4489549"/>
            <a:ext cx="4968838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students now use AI in some form — up from 66% just two years ago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52500" y="5523458"/>
            <a:ext cx="7529215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780633"/>
            <a:ext cx="19907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54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94%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343275" y="5861149"/>
            <a:ext cx="4968838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generative AI on </a:t>
            </a:r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assessed work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grading integrity is already an AI problem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952500" y="6895058"/>
            <a:ext cx="7529215" cy="1181100"/>
          </a:xfrm>
          <a:prstGeom prst="roundRect">
            <a:avLst>
              <a:gd name="adj" fmla="val 9677"/>
            </a:avLst>
          </a:prstGeom>
          <a:solidFill>
            <a:srgbClr val="10131A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7142708"/>
            <a:ext cx="19907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5400" b="1" dirty="0">
                <a:solidFill>
                  <a:srgbClr val="FF8A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38%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333750" y="7223224"/>
            <a:ext cx="498846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institutions provide AI tools. The other 57 points of usage are </a:t>
            </a:r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ungoverned shadow AI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053215" y="4451300"/>
            <a:ext cx="8530754" cy="1043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day that UPSI has no institutional AI, students and staff fill the gap themselves — pasting assignments, drafts, student records, and research data into </a:t>
            </a:r>
            <a:pPr algn="l" indent="0" marL="0">
              <a:lnSpc>
                <a:spcPct val="135385"/>
              </a:lnSpc>
              <a:buNone/>
            </a:pPr>
            <a:r>
              <a:rPr lang="en-US" sz="16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consumer chatbots hosted overseas</a:t>
            </a:r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under terms of service no one has read.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053215" y="5685383"/>
            <a:ext cx="8530754" cy="1043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data trains someone else's model, sits under someone else's jurisdiction, and is governed by no UPSI policy. </a:t>
            </a:r>
            <a:pPr algn="l" indent="0" marL="0">
              <a:lnSpc>
                <a:spcPct val="135385"/>
              </a:lnSpc>
              <a:buNone/>
            </a:pPr>
            <a:r>
              <a:rPr lang="en-US" sz="16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Doing nothing is not a neutral option — it is an unmanaged data-export programme.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053215" y="6919466"/>
            <a:ext cx="8282285" cy="857250"/>
          </a:xfrm>
          <a:custGeom>
            <a:avLst/>
            <a:gdLst/>
            <a:ahLst/>
            <a:cxnLst/>
            <a:rect l="l" t="t" r="r" b="b"/>
            <a:pathLst>
              <a:path w="8282285" h="857250">
                <a:moveTo>
                  <a:pt x="0" y="0"/>
                </a:moveTo>
                <a:lnTo>
                  <a:pt x="8206085" y="0"/>
                </a:lnTo>
                <a:arcTo hR="76200" wR="76200" stAng="16200000" swAng="5400000"/>
                <a:lnTo>
                  <a:pt x="8282285" y="781050"/>
                </a:lnTo>
                <a:arcTo hR="76200" wR="76200" stAng="0" swAng="5400000"/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BE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9053215" y="6919466"/>
            <a:ext cx="28575" cy="8572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9310390" y="7090916"/>
            <a:ext cx="804497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141413"/>
                </a:solidFill>
                <a:highlight>
                  <a:srgbClr val="FBEDE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SULUH replaces shadow AI with a governed alternative that is </a:t>
            </a:r>
            <a:pPr algn="l" indent="0" marL="0">
              <a:lnSpc>
                <a:spcPct val="128571"/>
              </a:lnSpc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</a:t>
            </a:r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141413"/>
                </a:solidFill>
                <a:highlight>
                  <a:srgbClr val="FBEDE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for students — bilingual, curriculum-aware, and free — not just a policy that bans what we cannot see.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HEPI/Kortext Student Generative AI Survey 2026 (n=1,054 undergraduates) · 2024→2026 trend: 66% → 92% → 95% any-AI use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31401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· 02 THE THREAT IS REAL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07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5304770" cy="154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Universities are now the most-attacked institutions on earth — and the biggest breaches came through third-party vendors, not campus firewalls.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3359200"/>
            <a:ext cx="5308550" cy="1631454"/>
          </a:xfrm>
          <a:prstGeom prst="roundRect">
            <a:avLst>
              <a:gd name="adj" fmla="val 7006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7775" y="3635425"/>
            <a:ext cx="5189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42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4,388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47775" y="4245025"/>
            <a:ext cx="4859540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cyberattacks per education organisation </a:t>
            </a:r>
            <a:pPr algn="l" indent="0" marL="0">
              <a:lnSpc>
                <a:spcPct val="123250"/>
              </a:lnSpc>
              <a:buNone/>
            </a:pPr>
            <a:r>
              <a:rPr lang="en-US" sz="127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week </a:t>
            </a:r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highest of any sector (Q2 2025)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6489650" y="3359200"/>
            <a:ext cx="5308550" cy="1631454"/>
          </a:xfrm>
          <a:prstGeom prst="roundRect">
            <a:avLst>
              <a:gd name="adj" fmla="val 7006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925" y="3635425"/>
            <a:ext cx="5189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42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3.9M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784925" y="4245025"/>
            <a:ext cx="4859540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records exposed in confirmed 2025 ransomware attacks — up 27% year-on-year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2026801" y="3359200"/>
            <a:ext cx="5308550" cy="1631454"/>
          </a:xfrm>
          <a:prstGeom prst="roundRect">
            <a:avLst>
              <a:gd name="adj" fmla="val 7006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22076" y="3635425"/>
            <a:ext cx="5189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42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39%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322076" y="4245025"/>
            <a:ext cx="4859540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identity-based attacks Microsoft observed targeted research and academic institutions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952500" y="5219254"/>
            <a:ext cx="5308550" cy="3962846"/>
          </a:xfrm>
          <a:prstGeom prst="roundRect">
            <a:avLst>
              <a:gd name="adj" fmla="val 2884"/>
            </a:avLst>
          </a:prstGeom>
          <a:solidFill>
            <a:srgbClr val="10131A"/>
          </a:solidFill>
          <a:ln/>
        </p:spPr>
      </p:sp>
      <p:sp>
        <p:nvSpPr>
          <p:cNvPr id="16" name="Text 14"/>
          <p:cNvSpPr/>
          <p:nvPr/>
        </p:nvSpPr>
        <p:spPr>
          <a:xfrm>
            <a:off x="1238250" y="5485954"/>
            <a:ext cx="52107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· UNIVERSITY OF PHOENIX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238250" y="5762179"/>
            <a:ext cx="487916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278"/>
              </a:lnSpc>
              <a:buNone/>
            </a:pPr>
            <a:r>
              <a:rPr lang="en-US" sz="19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3.5M people exposed via one vendor zero-day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38250" y="6514654"/>
            <a:ext cx="4879162" cy="243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exploited Oracle's E-Business Suite weeks before the vendor even knew. Three months of dwell time before detection. Names, birthdates, ID numbers — gone.</a:t>
            </a:r>
            <a:endParaRPr lang="en-US" sz="1238" dirty="0"/>
          </a:p>
        </p:txBody>
      </p:sp>
      <p:sp>
        <p:nvSpPr>
          <p:cNvPr id="19" name="Shape 17"/>
          <p:cNvSpPr/>
          <p:nvPr/>
        </p:nvSpPr>
        <p:spPr>
          <a:xfrm>
            <a:off x="6489650" y="5219254"/>
            <a:ext cx="5308550" cy="3962846"/>
          </a:xfrm>
          <a:prstGeom prst="roundRect">
            <a:avLst>
              <a:gd name="adj" fmla="val 2884"/>
            </a:avLst>
          </a:prstGeom>
          <a:solidFill>
            <a:srgbClr val="10131A"/>
          </a:solidFill>
          <a:ln/>
        </p:spPr>
      </p:sp>
      <p:sp>
        <p:nvSpPr>
          <p:cNvPr id="20" name="Text 18"/>
          <p:cNvSpPr/>
          <p:nvPr/>
        </p:nvSpPr>
        <p:spPr>
          <a:xfrm>
            <a:off x="6775400" y="5485954"/>
            <a:ext cx="52107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· COLUMBIA UNIVERSITY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775400" y="5762179"/>
            <a:ext cx="487916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278"/>
              </a:lnSpc>
              <a:buNone/>
            </a:pPr>
            <a:r>
              <a:rPr lang="en-US" sz="19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870K records, 460 GB, two months undetected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775400" y="6514654"/>
            <a:ext cx="4879162" cy="243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phished phone call. Attackers roamed the network from May to June 2025, taking academic histories, financial aid files, and health information.</a:t>
            </a:r>
            <a:endParaRPr lang="en-US" sz="1238" dirty="0"/>
          </a:p>
        </p:txBody>
      </p:sp>
      <p:sp>
        <p:nvSpPr>
          <p:cNvPr id="23" name="Shape 21"/>
          <p:cNvSpPr/>
          <p:nvPr/>
        </p:nvSpPr>
        <p:spPr>
          <a:xfrm>
            <a:off x="12026801" y="5219254"/>
            <a:ext cx="5308550" cy="3962846"/>
          </a:xfrm>
          <a:prstGeom prst="roundRect">
            <a:avLst>
              <a:gd name="adj" fmla="val 2884"/>
            </a:avLst>
          </a:prstGeom>
          <a:solidFill>
            <a:srgbClr val="10131A"/>
          </a:solidFill>
          <a:ln/>
        </p:spPr>
      </p:sp>
      <p:sp>
        <p:nvSpPr>
          <p:cNvPr id="24" name="Text 22"/>
          <p:cNvSpPr/>
          <p:nvPr/>
        </p:nvSpPr>
        <p:spPr>
          <a:xfrm>
            <a:off x="12312551" y="5485954"/>
            <a:ext cx="52107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· POWERSCHOOL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312551" y="5762179"/>
            <a:ext cx="487916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278"/>
              </a:lnSpc>
              <a:buNone/>
            </a:pPr>
            <a:r>
              <a:rPr lang="en-US" sz="19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62M students exposed by one ed-tech vendor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312551" y="6514654"/>
            <a:ext cx="4879162" cy="243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compromised support credential — no MFA — reached the records of 18,000 schools. The largest student-data breach in history was a </a:t>
            </a:r>
            <a:pPr algn="l" indent="0" marL="0">
              <a:lnSpc>
                <a:spcPct val="123750"/>
              </a:lnSpc>
              <a:buNone/>
            </a:pPr>
            <a:r>
              <a:rPr lang="en-US" sz="1238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supply-chain </a:t>
            </a:r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failure.</a:t>
            </a:r>
            <a:endParaRPr lang="en-US" sz="1238" dirty="0"/>
          </a:p>
        </p:txBody>
      </p:sp>
      <p:sp>
        <p:nvSpPr>
          <p:cNvPr id="27" name="Shape 25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Sources: Check Point via DeepStrike (Q2 2025) · Comparitech Education Ransomware Roundup 2025 · Microsoft Digital Defense Report 2025 · public breach disclosures 2025 · CISA: education is "target rich, cyber poor"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31401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· 03 THE LAW GREW TEETH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08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5304770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Since 2025, mishandling personal data is a RM 1 million offence — and liability reaches named officers, personally.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3695998"/>
            <a:ext cx="4246364" cy="1545729"/>
          </a:xfrm>
          <a:prstGeom prst="roundRect">
            <a:avLst>
              <a:gd name="adj" fmla="val 616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5232202"/>
            <a:ext cx="424636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3695998"/>
            <a:ext cx="4246364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695998"/>
            <a:ext cx="9525" cy="1545729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0" name="Shape 8"/>
          <p:cNvSpPr/>
          <p:nvPr/>
        </p:nvSpPr>
        <p:spPr>
          <a:xfrm>
            <a:off x="5189339" y="3695998"/>
            <a:ext cx="9525" cy="1545729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1" name="Text 9"/>
          <p:cNvSpPr/>
          <p:nvPr/>
        </p:nvSpPr>
        <p:spPr>
          <a:xfrm>
            <a:off x="1209675" y="3962698"/>
            <a:ext cx="410521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1M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09675" y="4534198"/>
            <a:ext cx="3843974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fine per offence — up from RM 300K — plus up to </a:t>
            </a:r>
            <a:pPr algn="l" indent="0" marL="0">
              <a:lnSpc>
                <a:spcPct val="123250"/>
              </a:lnSpc>
              <a:buNone/>
            </a:pPr>
            <a:r>
              <a:rPr lang="en-US" sz="127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years' imprisonment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5351264" y="3695998"/>
            <a:ext cx="4246364" cy="1545729"/>
          </a:xfrm>
          <a:prstGeom prst="roundRect">
            <a:avLst>
              <a:gd name="adj" fmla="val 6162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351264" y="5232202"/>
            <a:ext cx="424636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5" name="Shape 13"/>
          <p:cNvSpPr/>
          <p:nvPr/>
        </p:nvSpPr>
        <p:spPr>
          <a:xfrm>
            <a:off x="5351264" y="3695998"/>
            <a:ext cx="4246364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351264" y="3695998"/>
            <a:ext cx="9525" cy="1545729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7" name="Shape 15"/>
          <p:cNvSpPr/>
          <p:nvPr/>
        </p:nvSpPr>
        <p:spPr>
          <a:xfrm>
            <a:off x="9588103" y="3695998"/>
            <a:ext cx="9525" cy="1545729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8" name="Text 16"/>
          <p:cNvSpPr/>
          <p:nvPr/>
        </p:nvSpPr>
        <p:spPr>
          <a:xfrm>
            <a:off x="5608439" y="3962698"/>
            <a:ext cx="410521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Personal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608439" y="4534198"/>
            <a:ext cx="3843974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directors, managers, and officers are </a:t>
            </a:r>
            <a:pPr algn="l" indent="0" marL="0">
              <a:lnSpc>
                <a:spcPct val="123250"/>
              </a:lnSpc>
              <a:buNone/>
            </a:pPr>
            <a:r>
              <a:rPr lang="en-US" sz="127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personally liable </a:t>
            </a:r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unless they prove due diligence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952500" y="5394127"/>
            <a:ext cx="4246364" cy="1780431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7165032"/>
            <a:ext cx="424636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" y="5394127"/>
            <a:ext cx="4246364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Shape 21"/>
          <p:cNvSpPr/>
          <p:nvPr/>
        </p:nvSpPr>
        <p:spPr>
          <a:xfrm>
            <a:off x="952500" y="5394127"/>
            <a:ext cx="9525" cy="1780431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189339" y="5394127"/>
            <a:ext cx="9525" cy="1780431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5" name="Text 23"/>
          <p:cNvSpPr/>
          <p:nvPr/>
        </p:nvSpPr>
        <p:spPr>
          <a:xfrm>
            <a:off x="1209675" y="5660827"/>
            <a:ext cx="410521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72 hrs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209675" y="6232327"/>
            <a:ext cx="3843974" cy="742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breach notification to the Commissioner — failure alone costs up to </a:t>
            </a:r>
            <a:pPr algn="l" indent="0" marL="0">
              <a:lnSpc>
                <a:spcPct val="123250"/>
              </a:lnSpc>
              <a:buNone/>
            </a:pPr>
            <a:r>
              <a:rPr lang="en-US" sz="127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 250K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5351264" y="5394127"/>
            <a:ext cx="4246364" cy="1780431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351264" y="7165032"/>
            <a:ext cx="424636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9" name="Shape 27"/>
          <p:cNvSpPr/>
          <p:nvPr/>
        </p:nvSpPr>
        <p:spPr>
          <a:xfrm>
            <a:off x="5351264" y="5394127"/>
            <a:ext cx="4246364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Shape 28"/>
          <p:cNvSpPr/>
          <p:nvPr/>
        </p:nvSpPr>
        <p:spPr>
          <a:xfrm>
            <a:off x="5351264" y="5394127"/>
            <a:ext cx="9525" cy="1780431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1" name="Shape 29"/>
          <p:cNvSpPr/>
          <p:nvPr/>
        </p:nvSpPr>
        <p:spPr>
          <a:xfrm>
            <a:off x="9588103" y="5394127"/>
            <a:ext cx="9525" cy="1780431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2" name="Text 30"/>
          <p:cNvSpPr/>
          <p:nvPr/>
        </p:nvSpPr>
        <p:spPr>
          <a:xfrm>
            <a:off x="5608439" y="5660827"/>
            <a:ext cx="410521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DPO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5608439" y="6232327"/>
            <a:ext cx="3843974" cy="742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registered Data Protection Officer is </a:t>
            </a:r>
            <a:pPr algn="l" indent="0" marL="0">
              <a:lnSpc>
                <a:spcPct val="123250"/>
              </a:lnSpc>
              <a:buNone/>
            </a:pPr>
            <a:r>
              <a:rPr lang="en-US" sz="127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since June 2025 </a:t>
            </a:r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UPSI's data scale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952500" y="7326957"/>
            <a:ext cx="8645128" cy="1185863"/>
          </a:xfrm>
          <a:prstGeom prst="roundRect">
            <a:avLst>
              <a:gd name="adj" fmla="val 8032"/>
            </a:avLst>
          </a:prstGeom>
          <a:solidFill>
            <a:srgbClr val="10131A"/>
          </a:solidFill>
          <a:ln/>
        </p:spPr>
      </p:sp>
      <p:sp>
        <p:nvSpPr>
          <p:cNvPr id="35" name="Text 33"/>
          <p:cNvSpPr/>
          <p:nvPr/>
        </p:nvSpPr>
        <p:spPr>
          <a:xfrm>
            <a:off x="1200150" y="7710339"/>
            <a:ext cx="2174409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8A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Cross-border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405485" y="7555557"/>
            <a:ext cx="6122828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Offshore transfers are only lawful to jurisdictions with </a:t>
            </a:r>
            <a:pPr algn="l" indent="0" marL="0">
              <a:lnSpc>
                <a:spcPct val="127500"/>
              </a:lnSpc>
              <a:buNone/>
            </a:pPr>
            <a:r>
              <a:rPr lang="en-US" sz="1275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substantially similar protection </a:t>
            </a:r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test each foreign AI vendor must pass, and UPSI must evidence, for every data flow.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0131028" y="4817120"/>
            <a:ext cx="7420606" cy="1378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cloud AI query that carries a student record is a cross-border transfer UPSI must justify, a vendor contract UPSI must audit, and a breach surface UPSI cannot see into — </a:t>
            </a:r>
            <a:pPr algn="l" indent="0" marL="0">
              <a:lnSpc>
                <a:spcPct val="135385"/>
              </a:lnSpc>
              <a:buNone/>
            </a:pPr>
            <a:r>
              <a:rPr lang="en-US" sz="16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yet UPSI keeps 100% of the liability </a:t>
            </a:r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0131028" y="6386364"/>
            <a:ext cx="7420606" cy="1043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Sovereignty inverts the equation: when data never leaves campus, the hardest compliance questions </a:t>
            </a:r>
            <a:pPr algn="l" indent="0" marL="0">
              <a:lnSpc>
                <a:spcPct val="135385"/>
              </a:lnSpc>
              <a:buNone/>
            </a:pPr>
            <a:r>
              <a:rPr lang="en-US" sz="16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arise </a:t>
            </a:r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SULUH doesn't manage this risk. It removes it.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40" name="Text 38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Personal Data Protection (Amendment) Act 2024, in force Jan–Jun 2025 · JPDP Guidelines Feb 2025 · avg. Malaysian breach cost est. RM 3.2M incl. fines, legal &amp; churn (Simply Data 2025)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34890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· 04 SOVEREIGNTY BY DESIGN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09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716125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cloud option forces student data offshore — SULUH makes the question structurally impossible to ask.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52500" y="4975175"/>
            <a:ext cx="8123301" cy="1043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Grading, advising, and staff analytics all run on real student and employee records. Sending them to a foreign API means UPSI can no longer guarantee where that data lives, who can subpoena it, or how it is retained.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6247358"/>
            <a:ext cx="8123301" cy="1043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Sovereignty is not a feature of SULUH — it is the design constraint. </a:t>
            </a:r>
            <a:pPr algn="l" indent="0" marL="0">
              <a:lnSpc>
                <a:spcPct val="135385"/>
              </a:lnSpc>
              <a:buNone/>
            </a:pPr>
            <a:r>
              <a:rPr lang="en-US" sz="16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raw student PII ever leaves UPSI. </a:t>
            </a:r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teachers touch only anonymised curriculum data.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448800" y="4138315"/>
            <a:ext cx="7886700" cy="1202829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448800" y="5331619"/>
            <a:ext cx="78867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4138315"/>
            <a:ext cx="78867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1" name="Shape 9"/>
          <p:cNvSpPr/>
          <p:nvPr/>
        </p:nvSpPr>
        <p:spPr>
          <a:xfrm>
            <a:off x="9448800" y="4138315"/>
            <a:ext cx="38100" cy="1202829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25975" y="4138315"/>
            <a:ext cx="9525" cy="1202829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3" name="Text 11"/>
          <p:cNvSpPr/>
          <p:nvPr/>
        </p:nvSpPr>
        <p:spPr>
          <a:xfrm>
            <a:off x="9753600" y="4376440"/>
            <a:ext cx="803624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Jurisdiction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753600" y="4633615"/>
            <a:ext cx="7524845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Foreign cloud = foreign legal reach over Malaysian student records — including subpoena powers UPSI cannot contest.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9448800" y="5512594"/>
            <a:ext cx="7886700" cy="1202829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448800" y="6705898"/>
            <a:ext cx="78867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7" name="Shape 15"/>
          <p:cNvSpPr/>
          <p:nvPr/>
        </p:nvSpPr>
        <p:spPr>
          <a:xfrm>
            <a:off x="9448800" y="5512594"/>
            <a:ext cx="78867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8" name="Shape 16"/>
          <p:cNvSpPr/>
          <p:nvPr/>
        </p:nvSpPr>
        <p:spPr>
          <a:xfrm>
            <a:off x="9448800" y="5512594"/>
            <a:ext cx="38100" cy="1202829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7325975" y="5512594"/>
            <a:ext cx="9525" cy="1202829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0" name="Text 18"/>
          <p:cNvSpPr/>
          <p:nvPr/>
        </p:nvSpPr>
        <p:spPr>
          <a:xfrm>
            <a:off x="9753600" y="5750719"/>
            <a:ext cx="803624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 &amp; purpose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753600" y="6007894"/>
            <a:ext cx="7524845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PDPA requires granular, purpose-bound consent — unenforceable across a vendor boundary you cannot audit.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9448800" y="6886873"/>
            <a:ext cx="7886700" cy="1202829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448800" y="8080177"/>
            <a:ext cx="78867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4" name="Shape 22"/>
          <p:cNvSpPr/>
          <p:nvPr/>
        </p:nvSpPr>
        <p:spPr>
          <a:xfrm>
            <a:off x="9448800" y="6886873"/>
            <a:ext cx="78867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5" name="Shape 23"/>
          <p:cNvSpPr/>
          <p:nvPr/>
        </p:nvSpPr>
        <p:spPr>
          <a:xfrm>
            <a:off x="9448800" y="6886873"/>
            <a:ext cx="38100" cy="1202829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7325975" y="6886873"/>
            <a:ext cx="9525" cy="1202829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7" name="Text 25"/>
          <p:cNvSpPr/>
          <p:nvPr/>
        </p:nvSpPr>
        <p:spPr>
          <a:xfrm>
            <a:off x="9753600" y="7124998"/>
            <a:ext cx="803624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 accountability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53600" y="7382173"/>
            <a:ext cx="7524845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72-hour notification and audit trails are UPSI's obligation — even when the breach is the vendor's, as in every 2025 case study.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PDPA = Personal Data Protection Act 2010, as amended 2024 · governance architecture detailed in Part Six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093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· 05 ECONOMICS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10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716125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Cloud AI is a bill that never stops; a sovereign build is a cost that ends.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52500" y="3981896"/>
            <a:ext cx="364731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563"/>
              </a:lnSpc>
              <a:buNone/>
            </a:pPr>
            <a:r>
              <a:rPr lang="en-US" sz="4800" b="1" dirty="0">
                <a:solidFill>
                  <a:srgbClr val="1F4E9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15–25K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458742" y="4324796"/>
            <a:ext cx="2376488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91"/>
              </a:lnSpc>
              <a:buNone/>
            </a:pPr>
            <a:r>
              <a:rPr lang="en-US" sz="14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month, every month, for as long as UPSI uses AI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52500" y="5004643"/>
            <a:ext cx="8162544" cy="1043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pricing scales with usage — the more UPSI adopts AI, the faster the meter runs. There is no asset at the end, no licence owned, no capability retained.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52500" y="6276826"/>
            <a:ext cx="79248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6553051"/>
            <a:ext cx="16398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563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633811" y="6895951"/>
            <a:ext cx="2707460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91"/>
              </a:lnSpc>
              <a:buNone/>
            </a:pPr>
            <a:r>
              <a:rPr lang="en-US" sz="14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licensing — the entire stack is open source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52500" y="7575798"/>
            <a:ext cx="8162544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SULUH spends CAPEX once and RM 30K/year to run. After the build phase the curve flattens; the cloud's keeps climbing.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410700" y="3813721"/>
            <a:ext cx="7924800" cy="4600575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39325" y="4204246"/>
            <a:ext cx="77743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TWO COST STRUCTURES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39325" y="4642396"/>
            <a:ext cx="251689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4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— operating expense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5730240" y="4642396"/>
            <a:ext cx="12528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compounds ↗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839325" y="5661571"/>
            <a:ext cx="1130201" cy="171450"/>
          </a:xfrm>
          <a:prstGeom prst="rect">
            <a:avLst/>
          </a:prstGeom>
          <a:solidFill>
            <a:srgbClr val="B9C8D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26676" y="5532983"/>
            <a:ext cx="1130350" cy="300038"/>
          </a:xfrm>
          <a:prstGeom prst="rect">
            <a:avLst/>
          </a:prstGeom>
          <a:solidFill>
            <a:srgbClr val="B9C8D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14175" y="5404396"/>
            <a:ext cx="1130201" cy="428625"/>
          </a:xfrm>
          <a:prstGeom prst="rect">
            <a:avLst/>
          </a:prstGeom>
          <a:solidFill>
            <a:srgbClr val="8FA7C8"/>
          </a:solidFill>
          <a:ln/>
        </p:spPr>
      </p:sp>
      <p:sp>
        <p:nvSpPr>
          <p:cNvPr id="20" name="Shape 18"/>
          <p:cNvSpPr/>
          <p:nvPr/>
        </p:nvSpPr>
        <p:spPr>
          <a:xfrm>
            <a:off x="13401526" y="5267325"/>
            <a:ext cx="1130350" cy="565696"/>
          </a:xfrm>
          <a:prstGeom prst="rect">
            <a:avLst/>
          </a:prstGeom>
          <a:solidFill>
            <a:srgbClr val="6D8D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4589026" y="5130105"/>
            <a:ext cx="1130350" cy="702915"/>
          </a:xfrm>
          <a:prstGeom prst="rect">
            <a:avLst/>
          </a:prstGeom>
          <a:solidFill>
            <a:srgbClr val="3F66A0"/>
          </a:solidFill>
          <a:ln/>
        </p:spPr>
      </p:sp>
      <p:sp>
        <p:nvSpPr>
          <p:cNvPr id="22" name="Shape 20"/>
          <p:cNvSpPr/>
          <p:nvPr/>
        </p:nvSpPr>
        <p:spPr>
          <a:xfrm>
            <a:off x="15776525" y="4975771"/>
            <a:ext cx="1130350" cy="857250"/>
          </a:xfrm>
          <a:prstGeom prst="rect">
            <a:avLst/>
          </a:prstGeom>
          <a:solidFill>
            <a:srgbClr val="1F4E9E"/>
          </a:solidFill>
          <a:ln/>
        </p:spPr>
      </p:sp>
      <p:sp>
        <p:nvSpPr>
          <p:cNvPr id="23" name="Text 21"/>
          <p:cNvSpPr/>
          <p:nvPr/>
        </p:nvSpPr>
        <p:spPr>
          <a:xfrm>
            <a:off x="9839325" y="6156871"/>
            <a:ext cx="23656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SULUH — capital expense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083558" y="6156871"/>
            <a:ext cx="8995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flattens →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839325" y="6452146"/>
            <a:ext cx="1130201" cy="8572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26676" y="6932265"/>
            <a:ext cx="1130350" cy="377130"/>
          </a:xfrm>
          <a:prstGeom prst="rect">
            <a:avLst/>
          </a:prstGeom>
          <a:solidFill>
            <a:srgbClr val="E9808F"/>
          </a:solidFill>
          <a:ln/>
        </p:spPr>
      </p:sp>
      <p:sp>
        <p:nvSpPr>
          <p:cNvPr id="27" name="Shape 25"/>
          <p:cNvSpPr/>
          <p:nvPr/>
        </p:nvSpPr>
        <p:spPr>
          <a:xfrm>
            <a:off x="12214175" y="7120830"/>
            <a:ext cx="1130201" cy="188565"/>
          </a:xfrm>
          <a:prstGeom prst="rect">
            <a:avLst/>
          </a:prstGeom>
          <a:solidFill>
            <a:srgbClr val="F4C6C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01526" y="7120830"/>
            <a:ext cx="1130350" cy="188565"/>
          </a:xfrm>
          <a:prstGeom prst="rect">
            <a:avLst/>
          </a:prstGeom>
          <a:solidFill>
            <a:srgbClr val="F4C6CE"/>
          </a:solidFill>
          <a:ln/>
        </p:spPr>
      </p:sp>
      <p:sp>
        <p:nvSpPr>
          <p:cNvPr id="29" name="Shape 27"/>
          <p:cNvSpPr/>
          <p:nvPr/>
        </p:nvSpPr>
        <p:spPr>
          <a:xfrm>
            <a:off x="14589026" y="7120830"/>
            <a:ext cx="1130350" cy="188565"/>
          </a:xfrm>
          <a:prstGeom prst="rect">
            <a:avLst/>
          </a:prstGeom>
          <a:solidFill>
            <a:srgbClr val="F4C6CE"/>
          </a:solidFill>
          <a:ln/>
        </p:spPr>
      </p:sp>
      <p:sp>
        <p:nvSpPr>
          <p:cNvPr id="30" name="Shape 28"/>
          <p:cNvSpPr/>
          <p:nvPr/>
        </p:nvSpPr>
        <p:spPr>
          <a:xfrm>
            <a:off x="15776525" y="7120830"/>
            <a:ext cx="1130350" cy="188565"/>
          </a:xfrm>
          <a:prstGeom prst="rect">
            <a:avLst/>
          </a:prstGeom>
          <a:solidFill>
            <a:srgbClr val="F4C6CE"/>
          </a:solidFill>
          <a:ln/>
        </p:spPr>
      </p:sp>
      <p:sp>
        <p:nvSpPr>
          <p:cNvPr id="31" name="Shape 29"/>
          <p:cNvSpPr/>
          <p:nvPr/>
        </p:nvSpPr>
        <p:spPr>
          <a:xfrm>
            <a:off x="9839325" y="7557046"/>
            <a:ext cx="7067550" cy="1905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32" name="Text 30"/>
          <p:cNvSpPr/>
          <p:nvPr/>
        </p:nvSpPr>
        <p:spPr>
          <a:xfrm>
            <a:off x="9839325" y="7766596"/>
            <a:ext cx="727957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Breakeven at Month 14. </a:t>
            </a:r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quantified curve in Part Six.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Illustrative cost shape; quantified 36-month analysis in Part Six · Economics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18609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· 06 WHY NOW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11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5304770" cy="154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sovereign-AI wave is cresting now — and no university in the region has staked the higher-education claim. The window belongs to the first mover.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3397300"/>
            <a:ext cx="7981950" cy="5937200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025" y="3749725"/>
            <a:ext cx="79209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MOMENT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43025" y="4216450"/>
            <a:ext cx="95250" cy="952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1609725" y="4130725"/>
            <a:ext cx="714222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100+ countries </a:t>
            </a:r>
            <a:pPr algn="l" indent="0" marL="0">
              <a:lnSpc>
                <a:spcPct val="129167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committed to AI sovereignty in the Bangkok Declaration (Feb 2026) — sovereignty is now the global default, not the exception.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43025" y="5016550"/>
            <a:ext cx="95250" cy="952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609725" y="4930825"/>
            <a:ext cx="714222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Malaysia's national push — </a:t>
            </a:r>
            <a:pPr algn="l" indent="0" marL="0">
              <a:lnSpc>
                <a:spcPct val="129167"/>
              </a:lnSpc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ILMU, NAIO, MyDIGITAL </a:t>
            </a:r>
            <a:pPr algn="l" indent="0" marL="0">
              <a:lnSpc>
                <a:spcPct val="129167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is funded and moving, but it targets nation-scale and industry. </a:t>
            </a:r>
            <a:pPr algn="l" indent="0" marL="0">
              <a:lnSpc>
                <a:spcPct val="129167"/>
              </a:lnSpc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is unclaimed.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43025" y="5816650"/>
            <a:ext cx="95250" cy="952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1609725" y="5730925"/>
            <a:ext cx="714222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Analysts warn that institutions which don't build become </a:t>
            </a:r>
            <a:pPr algn="l" indent="0" marL="0">
              <a:lnSpc>
                <a:spcPct val="129167"/>
              </a:lnSpc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"permanent renters" </a:t>
            </a:r>
            <a:pPr algn="l" indent="0" marL="0">
              <a:lnSpc>
                <a:spcPct val="129167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foreign AI — paying forever, owning nothing.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53550" y="3397300"/>
            <a:ext cx="7981950" cy="4908500"/>
          </a:xfrm>
          <a:prstGeom prst="roundRect">
            <a:avLst>
              <a:gd name="adj" fmla="val 2717"/>
            </a:avLst>
          </a:prstGeom>
          <a:solidFill>
            <a:srgbClr val="10131A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4720382"/>
            <a:ext cx="80257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THE FIRST MOVER WINS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96450" y="5044232"/>
            <a:ext cx="7515035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1463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standard: </a:t>
            </a:r>
            <a:pPr algn="l" indent="0" marL="0">
              <a:lnSpc>
                <a:spcPct val="121875"/>
              </a:lnSpc>
              <a:buNone/>
            </a:pPr>
            <a:r>
              <a:rPr lang="en-US" sz="1463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UPSI's governance gates and golden set become the national reference for educational AI.</a:t>
            </a:r>
            <a:endParaRPr lang="en-US" sz="1463" dirty="0"/>
          </a:p>
        </p:txBody>
      </p:sp>
      <p:sp>
        <p:nvSpPr>
          <p:cNvPr id="17" name="Text 15"/>
          <p:cNvSpPr/>
          <p:nvPr/>
        </p:nvSpPr>
        <p:spPr>
          <a:xfrm>
            <a:off x="9696450" y="5734794"/>
            <a:ext cx="7515035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1463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partnerships: </a:t>
            </a:r>
            <a:pPr algn="l" indent="0" marL="0">
              <a:lnSpc>
                <a:spcPct val="121875"/>
              </a:lnSpc>
              <a:buNone/>
            </a:pPr>
            <a:r>
              <a:rPr lang="en-US" sz="1463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ministries, MQA, and 20 public universities need exactly this — the first builder hosts the conversation.</a:t>
            </a:r>
            <a:endParaRPr lang="en-US" sz="1463" dirty="0"/>
          </a:p>
        </p:txBody>
      </p:sp>
      <p:sp>
        <p:nvSpPr>
          <p:cNvPr id="18" name="Text 16"/>
          <p:cNvSpPr/>
          <p:nvPr/>
        </p:nvSpPr>
        <p:spPr>
          <a:xfrm>
            <a:off x="9696450" y="6425357"/>
            <a:ext cx="7515035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1463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talent: </a:t>
            </a:r>
            <a:pPr algn="l" indent="0" marL="0">
              <a:lnSpc>
                <a:spcPct val="121875"/>
              </a:lnSpc>
              <a:buNone/>
            </a:pPr>
            <a:r>
              <a:rPr lang="en-US" sz="1463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researchers and students who build sovereign AI come to — and stay at — the place that builds it.</a:t>
            </a:r>
            <a:endParaRPr lang="en-US" sz="1463" dirty="0"/>
          </a:p>
        </p:txBody>
      </p:sp>
      <p:sp>
        <p:nvSpPr>
          <p:cNvPr id="19" name="Shape 17"/>
          <p:cNvSpPr/>
          <p:nvPr/>
        </p:nvSpPr>
        <p:spPr>
          <a:xfrm>
            <a:off x="9353550" y="8477250"/>
            <a:ext cx="7981950" cy="857250"/>
          </a:xfrm>
          <a:custGeom>
            <a:avLst/>
            <a:gdLst/>
            <a:ahLst/>
            <a:cxnLst/>
            <a:rect l="l" t="t" r="r" b="b"/>
            <a:pathLst>
              <a:path w="7981950" h="857250">
                <a:moveTo>
                  <a:pt x="0" y="0"/>
                </a:moveTo>
                <a:lnTo>
                  <a:pt x="7905750" y="0"/>
                </a:lnTo>
                <a:arcTo hR="76200" wR="76200" stAng="16200000" swAng="5400000"/>
                <a:lnTo>
                  <a:pt x="7981950" y="781050"/>
                </a:lnTo>
                <a:arcTo hR="76200" wR="76200" stAng="0" swAng="5400000"/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BEDE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53550" y="8477250"/>
            <a:ext cx="28575" cy="8572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9610725" y="8648700"/>
            <a:ext cx="77356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 of one year of waiting: </a:t>
            </a:r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141413"/>
                </a:solidFill>
                <a:highlight>
                  <a:srgbClr val="FBEDE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RM 180–300K in cloud spend, twelve more months of shadow-AI exposure — and the first-mover title passes to another campus.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Sources: Bangkok Declaration (Feb 2026) · Digital in Asia, Sovereign AI in Asia 2026 · Fulcrum/ISEAS 2026 · regional landscape detailed in Part Two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96750" y="-1905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1F4E9E">
                  <a:alpha val="20000"/>
                </a:srgbClr>
              </a:gs>
              <a:gs pos="45000">
                <a:srgbClr val="7B2D8E">
                  <a:alpha val="10000"/>
                </a:srgbClr>
              </a:gs>
              <a:gs pos="70000">
                <a:srgbClr val="7B2D8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348930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3" kern="0" dirty="0">
                <a:solidFill>
                  <a:srgbClr val="FF5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TWO · THE SYSTEM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3000" y="3787080"/>
            <a:ext cx="17602200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973"/>
              </a:lnSpc>
              <a:buNone/>
            </a:pPr>
            <a:r>
              <a:rPr lang="en-US" sz="14250" spc="-285" kern="0" dirty="0">
                <a:gradFill rotWithShape="1">
                  <a:gsLst>
                    <a:gs pos="30000">
                      <a:srgbClr val="FAF9F5">
                        <a:alpha val="100000"/>
                      </a:srgbClr>
                    </a:gs>
                    <a:gs pos="75000">
                      <a:srgbClr val="FF8A97">
                        <a:alpha val="100000"/>
                      </a:srgbClr>
                    </a:gs>
                    <a:gs pos="100000">
                      <a:srgbClr val="C86BE0">
                        <a:alpha val="100000"/>
                      </a:srgbClr>
                    </a:gs>
                  </a:gsLst>
                  <a:lin ang="600000" scaled="0"/>
                </a:gra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What.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1143000" y="5737771"/>
            <a:ext cx="1030128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SULUH is one system with two fundable halves: a sovereign model, and the institutional harnesses that put it to work — occupying a position no one in the region holds.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344900" y="9353550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2097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· 01 STRUCTURE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13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912340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projects, funded separately, operationally inseparable — that separation is what makes each one fundable.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2893516"/>
            <a:ext cx="8020050" cy="5736134"/>
          </a:xfrm>
          <a:prstGeom prst="roundRect">
            <a:avLst>
              <a:gd name="adj" fmla="val 199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8620125"/>
            <a:ext cx="802005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893516"/>
            <a:ext cx="8020050" cy="47625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2893516"/>
            <a:ext cx="9525" cy="5736134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0" name="Shape 8"/>
          <p:cNvSpPr/>
          <p:nvPr/>
        </p:nvSpPr>
        <p:spPr>
          <a:xfrm>
            <a:off x="8963025" y="2893516"/>
            <a:ext cx="9525" cy="5736134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1" name="Text 9"/>
          <p:cNvSpPr/>
          <p:nvPr/>
        </p:nvSpPr>
        <p:spPr>
          <a:xfrm>
            <a:off x="1343025" y="3303091"/>
            <a:ext cx="16785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SULUH AI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461796" y="3503116"/>
            <a:ext cx="11964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R&amp;D · this ask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43025" y="3931741"/>
            <a:ext cx="74561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sovereign model — a 35B-parameter educational AI trained, adapted, and served entirely on-premise.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43025" y="7410450"/>
            <a:ext cx="7239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5" name="Text 13"/>
          <p:cNvSpPr/>
          <p:nvPr/>
        </p:nvSpPr>
        <p:spPr>
          <a:xfrm>
            <a:off x="1343025" y="7648575"/>
            <a:ext cx="255634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450K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343025" y="8077200"/>
            <a:ext cx="25563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200K hardware + 250K manpower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971776" y="7648575"/>
            <a:ext cx="236300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Grant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3971776" y="8077200"/>
            <a:ext cx="23630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peer-reviewed research novelty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9315450" y="2893516"/>
            <a:ext cx="8020050" cy="5736134"/>
          </a:xfrm>
          <a:prstGeom prst="roundRect">
            <a:avLst>
              <a:gd name="adj" fmla="val 199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15450" y="8620125"/>
            <a:ext cx="802005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1" name="Shape 19"/>
          <p:cNvSpPr/>
          <p:nvPr/>
        </p:nvSpPr>
        <p:spPr>
          <a:xfrm>
            <a:off x="9315450" y="2893516"/>
            <a:ext cx="8020050" cy="47625"/>
          </a:xfrm>
          <a:prstGeom prst="rect">
            <a:avLst/>
          </a:prstGeom>
          <a:solidFill>
            <a:srgbClr val="1F4E9E"/>
          </a:solidFill>
          <a:ln/>
        </p:spPr>
      </p:sp>
      <p:sp>
        <p:nvSpPr>
          <p:cNvPr id="22" name="Shape 20"/>
          <p:cNvSpPr/>
          <p:nvPr/>
        </p:nvSpPr>
        <p:spPr>
          <a:xfrm>
            <a:off x="9315450" y="2893516"/>
            <a:ext cx="9525" cy="5736134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3" name="Shape 21"/>
          <p:cNvSpPr/>
          <p:nvPr/>
        </p:nvSpPr>
        <p:spPr>
          <a:xfrm>
            <a:off x="17325975" y="2893516"/>
            <a:ext cx="9525" cy="5736134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4" name="Text 22"/>
          <p:cNvSpPr/>
          <p:nvPr/>
        </p:nvSpPr>
        <p:spPr>
          <a:xfrm>
            <a:off x="9705975" y="3303091"/>
            <a:ext cx="311983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SULUH Ecosystem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5664755" y="3503116"/>
            <a:ext cx="14082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4E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Deployment-ready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705975" y="3931741"/>
            <a:ext cx="74561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institutional harness layer — four production applications consuming SULUH AI as their inference backend.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705975" y="7410450"/>
            <a:ext cx="7239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8" name="Text 26"/>
          <p:cNvSpPr/>
          <p:nvPr/>
        </p:nvSpPr>
        <p:spPr>
          <a:xfrm>
            <a:off x="9705975" y="7648575"/>
            <a:ext cx="158930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Separate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705975" y="8077200"/>
            <a:ext cx="15893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IT budget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1455598" y="7648575"/>
            <a:ext cx="143770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Infra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1455598" y="8077200"/>
            <a:ext cx="14377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already exists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952500" y="8858250"/>
            <a:ext cx="16383000" cy="857250"/>
          </a:xfrm>
          <a:custGeom>
            <a:avLst/>
            <a:gdLst/>
            <a:ahLst/>
            <a:cxnLst/>
            <a:rect l="l" t="t" r="r" b="b"/>
            <a:pathLst>
              <a:path w="16383000" h="857250">
                <a:moveTo>
                  <a:pt x="0" y="0"/>
                </a:moveTo>
                <a:lnTo>
                  <a:pt x="16306800" y="0"/>
                </a:lnTo>
                <a:arcTo hR="76200" wR="76200" stAng="16200000" swAng="5400000"/>
                <a:lnTo>
                  <a:pt x="16383000" y="781050"/>
                </a:lnTo>
                <a:arcTo hR="76200" wR="76200" stAng="0" swAng="5400000"/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0EEE6"/>
          </a:solidFill>
          <a:ln/>
        </p:spPr>
      </p:sp>
      <p:sp>
        <p:nvSpPr>
          <p:cNvPr id="33" name="Shape 31"/>
          <p:cNvSpPr/>
          <p:nvPr/>
        </p:nvSpPr>
        <p:spPr>
          <a:xfrm>
            <a:off x="952500" y="8858250"/>
            <a:ext cx="28575" cy="8572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32"/>
          <p:cNvSpPr/>
          <p:nvPr/>
        </p:nvSpPr>
        <p:spPr>
          <a:xfrm>
            <a:off x="1209675" y="9029700"/>
            <a:ext cx="1638871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research novelty needs peer review and reproducibility; institutional infrastructure needs operational budgets. Splitting them lets each be funded through the right channel — this deck is the bridge.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2097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· 02 THE MODEL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14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912340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35B mixture-of-experts delivers 70B-class quality while fitting our hardware six times over.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4467969"/>
            <a:ext cx="8958411" cy="3234779"/>
          </a:xfrm>
          <a:prstGeom prst="roundRect">
            <a:avLst>
              <a:gd name="adj" fmla="val 35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675" y="4725144"/>
            <a:ext cx="8444061" cy="255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9675" y="7354193"/>
            <a:ext cx="9288467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10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— memory footprint. </a:t>
            </a:r>
            <a:pPr algn="l" indent="0" marL="0">
              <a:lnSpc>
                <a:spcPct val="115294"/>
              </a:lnSpc>
              <a:buNone/>
            </a:pPr>
            <a:r>
              <a:rPr lang="en-US" sz="10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stack (teacher + production + agent + embedding) serves in ~150 GB of 896 GB aggregate.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444311" y="4559796"/>
            <a:ext cx="7097924" cy="1043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70B dense model needs ~280 GB once weights and KV cache are counted — it overflows a single node. A 35B MoE activates just </a:t>
            </a:r>
            <a:pPr algn="l" indent="0" marL="0">
              <a:lnSpc>
                <a:spcPct val="135385"/>
              </a:lnSpc>
              <a:buNone/>
            </a:pPr>
            <a:r>
              <a:rPr lang="en-US" sz="16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 parameters per token </a:t>
            </a:r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matching quality at a fraction of the memory.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444311" y="5793879"/>
            <a:ext cx="3378845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44336" y="5993904"/>
            <a:ext cx="327667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6×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0644336" y="6470154"/>
            <a:ext cx="327667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headroom on the cluster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13956506" y="5793879"/>
            <a:ext cx="3378994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156531" y="5993904"/>
            <a:ext cx="32768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Apache 2.0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14156531" y="6470154"/>
            <a:ext cx="32768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Qwen3.6-35B-A3B, no licence fee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10444311" y="7079754"/>
            <a:ext cx="7097924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100B pre-training is a Phase-2 vision contingent on national compute — </a:t>
            </a:r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upside, not a Year-1 dependency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model tags verified live on Ollama &amp; HuggingFace, 20 Jul 2026 · MoE = mixture of experts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37216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· 03 THE REGIONAL LANDSCAPE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15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5304770" cy="154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Nations are spending tens of millions on sovereign AI. Nobody has claimed higher education — SULUH takes that seat for 0.2% of Singapore's budget.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4165104"/>
            <a:ext cx="16383000" cy="1905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888879"/>
            <a:ext cx="47376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PROGRAMME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526137" y="3888879"/>
            <a:ext cx="37900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BACKER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971657" y="3888879"/>
            <a:ext cx="37900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INVESTMENT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2417177" y="3888879"/>
            <a:ext cx="51167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FOCUS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952500" y="4965204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4374654"/>
            <a:ext cx="17104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NMLP / SEA-LION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219200" y="4593729"/>
            <a:ext cx="47376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Singapore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526137" y="4465141"/>
            <a:ext cx="37900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IMDA · AISG · A*STAR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8971657" y="4417516"/>
            <a:ext cx="37900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S$70M</a:t>
            </a:r>
            <a:pPr algn="l" indent="0" marL="0">
              <a:buNone/>
            </a:pPr>
            <a:r>
              <a:rPr lang="en-US" sz="1125" b="1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RM 230M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17177" y="4461272"/>
            <a:ext cx="5116785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National, general-purpose regional LLM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952500" y="5755779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" y="5165229"/>
            <a:ext cx="5305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ILMU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219200" y="5384304"/>
            <a:ext cx="47376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Malaysia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526137" y="5255716"/>
            <a:ext cx="37900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YTL Corp × Universiti Malaya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8971657" y="5208091"/>
            <a:ext cx="37900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Corporate</a:t>
            </a:r>
            <a:pPr algn="l" indent="0" marL="0">
              <a:buNone/>
            </a:pPr>
            <a:r>
              <a:rPr lang="en-US" sz="1125" b="1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500MW DC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417177" y="5251847"/>
            <a:ext cx="5116785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Bahasa Malaysia model, from scratch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52500" y="6546354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4" name="Text 22"/>
          <p:cNvSpPr/>
          <p:nvPr/>
        </p:nvSpPr>
        <p:spPr>
          <a:xfrm>
            <a:off x="1219200" y="5955804"/>
            <a:ext cx="10662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Sahabat-AI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219200" y="6174879"/>
            <a:ext cx="47376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Indonesia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526137" y="6046291"/>
            <a:ext cx="37900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 Group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8971657" y="5998666"/>
            <a:ext cx="37900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Corporate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417177" y="6042422"/>
            <a:ext cx="5116785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&amp; government services ecosystem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952500" y="6708279"/>
            <a:ext cx="16383000" cy="910530"/>
          </a:xfrm>
          <a:prstGeom prst="roundRect">
            <a:avLst>
              <a:gd name="adj" fmla="val 12553"/>
            </a:avLst>
          </a:prstGeom>
          <a:solidFill>
            <a:srgbClr val="10131A"/>
          </a:solidFill>
          <a:ln/>
        </p:spPr>
      </p:sp>
      <p:sp>
        <p:nvSpPr>
          <p:cNvPr id="30" name="Shape 28"/>
          <p:cNvSpPr/>
          <p:nvPr/>
        </p:nvSpPr>
        <p:spPr>
          <a:xfrm>
            <a:off x="952500" y="6708279"/>
            <a:ext cx="16383000" cy="28575"/>
          </a:xfrm>
          <a:prstGeom prst="rect">
            <a:avLst/>
          </a:prstGeom>
          <a:gradFill rotWithShape="1">
            <a:gsLst>
              <a:gs pos="0">
                <a:srgbClr val="C8102E">
                  <a:alpha val="100000"/>
                </a:srgbClr>
              </a:gs>
              <a:gs pos="50000">
                <a:srgbClr val="7B2D8E">
                  <a:alpha val="100000"/>
                </a:srgbClr>
              </a:gs>
              <a:gs pos="100000">
                <a:srgbClr val="1F4E9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1" name="Text 29"/>
          <p:cNvSpPr/>
          <p:nvPr/>
        </p:nvSpPr>
        <p:spPr>
          <a:xfrm>
            <a:off x="1219200" y="6963519"/>
            <a:ext cx="6972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SULUH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219200" y="7182594"/>
            <a:ext cx="47376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Malaysia · UPSI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526137" y="7054007"/>
            <a:ext cx="37900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public university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8971657" y="6992094"/>
            <a:ext cx="37900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8A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450K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2417177" y="6936879"/>
            <a:ext cx="4791172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Education-domain, university-owned, on-campus </a:t>
            </a:r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first of its kind in SEA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952500" y="8415338"/>
            <a:ext cx="8001000" cy="804863"/>
          </a:xfrm>
          <a:custGeom>
            <a:avLst/>
            <a:gdLst/>
            <a:ahLst/>
            <a:cxnLst/>
            <a:rect l="l" t="t" r="r" b="b"/>
            <a:pathLst>
              <a:path w="8001000" h="804863">
                <a:moveTo>
                  <a:pt x="0" y="0"/>
                </a:moveTo>
                <a:lnTo>
                  <a:pt x="7924800" y="0"/>
                </a:lnTo>
                <a:arcTo hR="76200" wR="76200" stAng="16200000" swAng="5400000"/>
                <a:lnTo>
                  <a:pt x="8001000" y="728663"/>
                </a:lnTo>
                <a:arcTo hR="76200" wR="76200" stAng="0" swAng="5400000"/>
                <a:lnTo>
                  <a:pt x="0" y="804863"/>
                </a:lnTo>
                <a:lnTo>
                  <a:pt x="0" y="0"/>
                </a:lnTo>
                <a:close/>
              </a:path>
            </a:pathLst>
          </a:custGeom>
          <a:solidFill>
            <a:srgbClr val="FBEDEF"/>
          </a:solidFill>
          <a:ln/>
        </p:spPr>
      </p:sp>
      <p:sp>
        <p:nvSpPr>
          <p:cNvPr id="37" name="Shape 35"/>
          <p:cNvSpPr/>
          <p:nvPr/>
        </p:nvSpPr>
        <p:spPr>
          <a:xfrm>
            <a:off x="952500" y="8415338"/>
            <a:ext cx="28575" cy="804863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Text 36"/>
          <p:cNvSpPr/>
          <p:nvPr/>
        </p:nvSpPr>
        <p:spPr>
          <a:xfrm>
            <a:off x="1209675" y="8567738"/>
            <a:ext cx="775525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13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programmes prove the thesis and supply the upside — SULUH is designed to plug into NAIO/MyDIGITAL compute for its Phase-2 100B vision.</a:t>
            </a:r>
            <a:endParaRPr lang="en-US" sz="1313" dirty="0"/>
          </a:p>
        </p:txBody>
      </p:sp>
      <p:sp>
        <p:nvSpPr>
          <p:cNvPr id="39" name="Shape 37"/>
          <p:cNvSpPr/>
          <p:nvPr/>
        </p:nvSpPr>
        <p:spPr>
          <a:xfrm>
            <a:off x="9334500" y="8415338"/>
            <a:ext cx="8001000" cy="804863"/>
          </a:xfrm>
          <a:custGeom>
            <a:avLst/>
            <a:gdLst/>
            <a:ahLst/>
            <a:cxnLst/>
            <a:rect l="l" t="t" r="r" b="b"/>
            <a:pathLst>
              <a:path w="8001000" h="804863">
                <a:moveTo>
                  <a:pt x="0" y="0"/>
                </a:moveTo>
                <a:lnTo>
                  <a:pt x="7924800" y="0"/>
                </a:lnTo>
                <a:arcTo hR="76200" wR="76200" stAng="16200000" swAng="5400000"/>
                <a:lnTo>
                  <a:pt x="8001000" y="728663"/>
                </a:lnTo>
                <a:arcTo hR="76200" wR="76200" stAng="0" swAng="5400000"/>
                <a:lnTo>
                  <a:pt x="0" y="804863"/>
                </a:lnTo>
                <a:lnTo>
                  <a:pt x="0" y="0"/>
                </a:lnTo>
                <a:close/>
              </a:path>
            </a:pathLst>
          </a:custGeom>
          <a:solidFill>
            <a:srgbClr val="F0EEE6"/>
          </a:solidFill>
          <a:ln/>
        </p:spPr>
      </p:sp>
      <p:sp>
        <p:nvSpPr>
          <p:cNvPr id="40" name="Shape 38"/>
          <p:cNvSpPr/>
          <p:nvPr/>
        </p:nvSpPr>
        <p:spPr>
          <a:xfrm>
            <a:off x="9334500" y="8415338"/>
            <a:ext cx="28575" cy="804863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41" name="Text 39"/>
          <p:cNvSpPr/>
          <p:nvPr/>
        </p:nvSpPr>
        <p:spPr>
          <a:xfrm>
            <a:off x="9591675" y="8567738"/>
            <a:ext cx="775525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13" dirty="0">
                <a:solidFill>
                  <a:srgbClr val="141413"/>
                </a:solidFill>
                <a:highlight>
                  <a:srgbClr val="F0EEE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The education university building educational AI is not a coincidence of budget — it is </a:t>
            </a:r>
            <a:pPr algn="l" indent="0" marL="0">
              <a:lnSpc>
                <a:spcPct val="125000"/>
              </a:lnSpc>
              <a:buNone/>
            </a:pPr>
            <a:r>
              <a:rPr lang="en-US" sz="1313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 the institution that should define this category </a:t>
            </a:r>
            <a:pPr algn="l" indent="0" marL="0">
              <a:lnSpc>
                <a:spcPct val="125000"/>
              </a:lnSpc>
              <a:buNone/>
            </a:pPr>
            <a:r>
              <a:rPr lang="en-US" sz="1313" dirty="0">
                <a:solidFill>
                  <a:srgbClr val="141413"/>
                </a:solidFill>
                <a:highlight>
                  <a:srgbClr val="F0EEE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13" dirty="0"/>
          </a:p>
        </p:txBody>
      </p:sp>
      <p:sp>
        <p:nvSpPr>
          <p:cNvPr id="42" name="Shape 40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43" name="Text 41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Sources: IMDA/AISG NMLP announcements · Fulcrum (ISEAS) 2026 · Digital in Asia 2026 · "first of its kind": no university-owned, higher-ed-domain sovereign LLM programme identified in SEA as of Jul 2026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28750" y="504825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C8102E">
                  <a:alpha val="16000"/>
                </a:srgbClr>
              </a:gs>
              <a:gs pos="45000">
                <a:srgbClr val="7B2D8E">
                  <a:alpha val="8000"/>
                </a:srgbClr>
              </a:gs>
              <a:gs pos="70000">
                <a:srgbClr val="7B2D8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348930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3" kern="0" dirty="0">
                <a:solidFill>
                  <a:srgbClr val="FF5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THREE · OWNERSHIP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3000" y="3787080"/>
            <a:ext cx="17602200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973"/>
              </a:lnSpc>
              <a:buNone/>
            </a:pPr>
            <a:r>
              <a:rPr lang="en-US" sz="14250" spc="-285" kern="0" dirty="0">
                <a:gradFill rotWithShape="1">
                  <a:gsLst>
                    <a:gs pos="30000">
                      <a:srgbClr val="FAF9F5">
                        <a:alpha val="100000"/>
                      </a:srgbClr>
                    </a:gs>
                    <a:gs pos="75000">
                      <a:srgbClr val="FF8A97">
                        <a:alpha val="100000"/>
                      </a:srgbClr>
                    </a:gs>
                    <a:gs pos="100000">
                      <a:srgbClr val="C86BE0">
                        <a:alpha val="100000"/>
                      </a:srgbClr>
                    </a:gs>
                  </a:gsLst>
                  <a:lin ang="600000" scaled="0"/>
                </a:gra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Who.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1143000" y="5737771"/>
            <a:ext cx="1030128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scattered proposals collapse into four harnesses — each owned by the UPSI unit that already lives the problem. And the whole university rises with them.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344900" y="9353550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79127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· HARNESSES &amp; OWNERS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17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716125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Seven proposals consolidate into four harnesses on one governed data fabric — no duplicate backends.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4122688"/>
            <a:ext cx="8497937" cy="3887242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4341763"/>
            <a:ext cx="8021687" cy="354434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945737" y="4447133"/>
            <a:ext cx="73896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9945737" y="5161508"/>
            <a:ext cx="738961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0" name="Shape 7"/>
          <p:cNvSpPr/>
          <p:nvPr/>
        </p:nvSpPr>
        <p:spPr>
          <a:xfrm>
            <a:off x="9945737" y="4447133"/>
            <a:ext cx="738961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1" name="Shape 8"/>
          <p:cNvSpPr/>
          <p:nvPr/>
        </p:nvSpPr>
        <p:spPr>
          <a:xfrm>
            <a:off x="9945737" y="4447133"/>
            <a:ext cx="38100" cy="7239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Shape 9"/>
          <p:cNvSpPr/>
          <p:nvPr/>
        </p:nvSpPr>
        <p:spPr>
          <a:xfrm>
            <a:off x="17325826" y="4447133"/>
            <a:ext cx="9525" cy="723900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3" name="Text 10"/>
          <p:cNvSpPr/>
          <p:nvPr/>
        </p:nvSpPr>
        <p:spPr>
          <a:xfrm>
            <a:off x="10174337" y="4637633"/>
            <a:ext cx="342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612487" y="4609058"/>
            <a:ext cx="655056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Intelligence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10612487" y="4828133"/>
            <a:ext cx="65505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Ahmad Amri · Dr. Nurul Hila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16738997" y="4709071"/>
            <a:ext cx="396329" cy="200025"/>
          </a:xfrm>
          <a:prstGeom prst="roundRect">
            <a:avLst>
              <a:gd name="adj" fmla="val 50000"/>
            </a:avLst>
          </a:prstGeom>
          <a:solidFill>
            <a:srgbClr val="F9E3E7"/>
          </a:solidFill>
          <a:ln/>
        </p:spPr>
      </p:sp>
      <p:sp>
        <p:nvSpPr>
          <p:cNvPr id="17" name="Text 14"/>
          <p:cNvSpPr/>
          <p:nvPr/>
        </p:nvSpPr>
        <p:spPr>
          <a:xfrm>
            <a:off x="16834247" y="4737646"/>
            <a:ext cx="2820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F0C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BSM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945737" y="5285333"/>
            <a:ext cx="73896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9945737" y="5999708"/>
            <a:ext cx="738961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0" name="Shape 17"/>
          <p:cNvSpPr/>
          <p:nvPr/>
        </p:nvSpPr>
        <p:spPr>
          <a:xfrm>
            <a:off x="9945737" y="5285333"/>
            <a:ext cx="738961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1" name="Shape 18"/>
          <p:cNvSpPr/>
          <p:nvPr/>
        </p:nvSpPr>
        <p:spPr>
          <a:xfrm>
            <a:off x="9945737" y="5285333"/>
            <a:ext cx="38100" cy="723900"/>
          </a:xfrm>
          <a:prstGeom prst="rect">
            <a:avLst/>
          </a:prstGeom>
          <a:solidFill>
            <a:srgbClr val="67867F"/>
          </a:solidFill>
          <a:ln/>
        </p:spPr>
      </p:sp>
      <p:sp>
        <p:nvSpPr>
          <p:cNvPr id="22" name="Shape 19"/>
          <p:cNvSpPr/>
          <p:nvPr/>
        </p:nvSpPr>
        <p:spPr>
          <a:xfrm>
            <a:off x="17325826" y="5285333"/>
            <a:ext cx="9525" cy="723900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3" name="Text 20"/>
          <p:cNvSpPr/>
          <p:nvPr/>
        </p:nvSpPr>
        <p:spPr>
          <a:xfrm>
            <a:off x="10174337" y="5475833"/>
            <a:ext cx="342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0612487" y="5447258"/>
            <a:ext cx="655056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Curriculum Knowledge API</a:t>
            </a:r>
            <a:endParaRPr lang="en-US" sz="1425" dirty="0"/>
          </a:p>
        </p:txBody>
      </p:sp>
      <p:sp>
        <p:nvSpPr>
          <p:cNvPr id="25" name="Text 22"/>
          <p:cNvSpPr/>
          <p:nvPr/>
        </p:nvSpPr>
        <p:spPr>
          <a:xfrm>
            <a:off x="10612487" y="5666333"/>
            <a:ext cx="65505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Amelia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16738997" y="5547271"/>
            <a:ext cx="396329" cy="200025"/>
          </a:xfrm>
          <a:prstGeom prst="roundRect">
            <a:avLst>
              <a:gd name="adj" fmla="val 50000"/>
            </a:avLst>
          </a:prstGeom>
          <a:solidFill>
            <a:srgbClr val="E2EAE4"/>
          </a:solidFill>
          <a:ln/>
        </p:spPr>
      </p:sp>
      <p:sp>
        <p:nvSpPr>
          <p:cNvPr id="27" name="Text 24"/>
          <p:cNvSpPr/>
          <p:nvPr/>
        </p:nvSpPr>
        <p:spPr>
          <a:xfrm>
            <a:off x="16834247" y="5575846"/>
            <a:ext cx="2820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F6B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PPA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945737" y="6123533"/>
            <a:ext cx="73896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9945737" y="6837908"/>
            <a:ext cx="738961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0" name="Shape 27"/>
          <p:cNvSpPr/>
          <p:nvPr/>
        </p:nvSpPr>
        <p:spPr>
          <a:xfrm>
            <a:off x="9945737" y="6123533"/>
            <a:ext cx="738961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1" name="Shape 28"/>
          <p:cNvSpPr/>
          <p:nvPr/>
        </p:nvSpPr>
        <p:spPr>
          <a:xfrm>
            <a:off x="9945737" y="6123533"/>
            <a:ext cx="38100" cy="723900"/>
          </a:xfrm>
          <a:prstGeom prst="rect">
            <a:avLst/>
          </a:prstGeom>
          <a:solidFill>
            <a:srgbClr val="1F4E9E"/>
          </a:solidFill>
          <a:ln/>
        </p:spPr>
      </p:sp>
      <p:sp>
        <p:nvSpPr>
          <p:cNvPr id="32" name="Shape 29"/>
          <p:cNvSpPr/>
          <p:nvPr/>
        </p:nvSpPr>
        <p:spPr>
          <a:xfrm>
            <a:off x="17325826" y="6123533"/>
            <a:ext cx="9525" cy="723900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3" name="Text 30"/>
          <p:cNvSpPr/>
          <p:nvPr/>
        </p:nvSpPr>
        <p:spPr>
          <a:xfrm>
            <a:off x="10174337" y="6314033"/>
            <a:ext cx="342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10612487" y="6285458"/>
            <a:ext cx="655056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Instructional Engine</a:t>
            </a:r>
            <a:endParaRPr lang="en-US" sz="1425" dirty="0"/>
          </a:p>
        </p:txBody>
      </p:sp>
      <p:sp>
        <p:nvSpPr>
          <p:cNvPr id="35" name="Text 32"/>
          <p:cNvSpPr/>
          <p:nvPr/>
        </p:nvSpPr>
        <p:spPr>
          <a:xfrm>
            <a:off x="10612487" y="6504533"/>
            <a:ext cx="65505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Mohd Muslim · Dr. Ahmad Wiraputra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16738997" y="6385471"/>
            <a:ext cx="396329" cy="200025"/>
          </a:xfrm>
          <a:prstGeom prst="roundRect">
            <a:avLst>
              <a:gd name="adj" fmla="val 50000"/>
            </a:avLst>
          </a:prstGeom>
          <a:solidFill>
            <a:srgbClr val="DDE7F2"/>
          </a:solidFill>
          <a:ln/>
        </p:spPr>
      </p:sp>
      <p:sp>
        <p:nvSpPr>
          <p:cNvPr id="37" name="Text 34"/>
          <p:cNvSpPr/>
          <p:nvPr/>
        </p:nvSpPr>
        <p:spPr>
          <a:xfrm>
            <a:off x="16834247" y="6414046"/>
            <a:ext cx="2820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4E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ICT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9945737" y="6961733"/>
            <a:ext cx="7389614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9945737" y="7676108"/>
            <a:ext cx="738961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40" name="Shape 37"/>
          <p:cNvSpPr/>
          <p:nvPr/>
        </p:nvSpPr>
        <p:spPr>
          <a:xfrm>
            <a:off x="9945737" y="6961733"/>
            <a:ext cx="7389614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41" name="Shape 38"/>
          <p:cNvSpPr/>
          <p:nvPr/>
        </p:nvSpPr>
        <p:spPr>
          <a:xfrm>
            <a:off x="9945737" y="6961733"/>
            <a:ext cx="38100" cy="723900"/>
          </a:xfrm>
          <a:prstGeom prst="rect">
            <a:avLst/>
          </a:prstGeom>
          <a:solidFill>
            <a:srgbClr val="8A8A5B"/>
          </a:solidFill>
          <a:ln/>
        </p:spPr>
      </p:sp>
      <p:sp>
        <p:nvSpPr>
          <p:cNvPr id="42" name="Shape 39"/>
          <p:cNvSpPr/>
          <p:nvPr/>
        </p:nvSpPr>
        <p:spPr>
          <a:xfrm>
            <a:off x="17325826" y="6961733"/>
            <a:ext cx="9525" cy="723900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43" name="Text 40"/>
          <p:cNvSpPr/>
          <p:nvPr/>
        </p:nvSpPr>
        <p:spPr>
          <a:xfrm>
            <a:off x="10174337" y="7152233"/>
            <a:ext cx="342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1950" dirty="0"/>
          </a:p>
        </p:txBody>
      </p:sp>
      <p:sp>
        <p:nvSpPr>
          <p:cNvPr id="44" name="Text 41"/>
          <p:cNvSpPr/>
          <p:nvPr/>
        </p:nvSpPr>
        <p:spPr>
          <a:xfrm>
            <a:off x="10612487" y="7123658"/>
            <a:ext cx="64750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Intelligence</a:t>
            </a:r>
            <a:endParaRPr lang="en-US" sz="1425" dirty="0"/>
          </a:p>
        </p:txBody>
      </p:sp>
      <p:sp>
        <p:nvSpPr>
          <p:cNvPr id="45" name="Text 42"/>
          <p:cNvSpPr/>
          <p:nvPr/>
        </p:nvSpPr>
        <p:spPr>
          <a:xfrm>
            <a:off x="10612487" y="7342733"/>
            <a:ext cx="64750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Vasanthan · Pn. Nurul Ashikin · Jason Wong</a:t>
            </a:r>
            <a:endParaRPr lang="en-US" sz="1125" dirty="0"/>
          </a:p>
        </p:txBody>
      </p:sp>
      <p:sp>
        <p:nvSpPr>
          <p:cNvPr id="46" name="Shape 43"/>
          <p:cNvSpPr/>
          <p:nvPr/>
        </p:nvSpPr>
        <p:spPr>
          <a:xfrm>
            <a:off x="16670387" y="7223671"/>
            <a:ext cx="464939" cy="200025"/>
          </a:xfrm>
          <a:prstGeom prst="roundRect">
            <a:avLst>
              <a:gd name="adj" fmla="val 50000"/>
            </a:avLst>
          </a:prstGeom>
          <a:solidFill>
            <a:srgbClr val="EFEACF"/>
          </a:solidFill>
          <a:ln/>
        </p:spPr>
      </p:sp>
      <p:sp>
        <p:nvSpPr>
          <p:cNvPr id="47" name="Text 44"/>
          <p:cNvSpPr/>
          <p:nvPr/>
        </p:nvSpPr>
        <p:spPr>
          <a:xfrm>
            <a:off x="16765637" y="7252246"/>
            <a:ext cx="3506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6B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BHEA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49" name="Text 46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P1/P2 share HR data · P4/P6 share grading &amp; tutoring · P5/P7 share the student pool · P3 becomes an upstream API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4424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· WHAT UPSI GAINS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18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5304770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SULUH is an institutional elevator: it lifts UPSI's research standing, its classrooms, its talent, and its national position — simultaneously.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2855416"/>
            <a:ext cx="8086725" cy="3068092"/>
          </a:xfrm>
          <a:prstGeom prst="roundRect">
            <a:avLst>
              <a:gd name="adj" fmla="val 3725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5875" y="3150691"/>
            <a:ext cx="260840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Research standing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48475" y="3303091"/>
            <a:ext cx="20431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NeurIPS · ACL · Nature MI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285875" y="3645991"/>
            <a:ext cx="7642574" cy="2020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planned publications on a </a:t>
            </a:r>
            <a:pPr algn="l" indent="0" marL="0">
              <a:lnSpc>
                <a:spcPct val="128043"/>
              </a:lnSpc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10,000-device evaluation testbed few labs on earth can replicate </a:t>
            </a:r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Citations, rankings, and grant capital compound from here.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9248775" y="2855416"/>
            <a:ext cx="8086725" cy="3068092"/>
          </a:xfrm>
          <a:prstGeom prst="roundRect">
            <a:avLst>
              <a:gd name="adj" fmla="val 3725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82150" y="3150691"/>
            <a:ext cx="285053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Teaching &amp; learning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847540" y="3303091"/>
            <a:ext cx="23700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student, every lecturer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582150" y="3645991"/>
            <a:ext cx="7642574" cy="2020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Rubric-faithful grading in seconds, a bilingual tutor on every laptop, advising that sees the whole student record — </a:t>
            </a:r>
            <a:pPr algn="l" indent="0" marL="0">
              <a:lnSpc>
                <a:spcPct val="128043"/>
              </a:lnSpc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single record leaving campus</a:t>
            </a:r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52500" y="6133058"/>
            <a:ext cx="8086725" cy="3068092"/>
          </a:xfrm>
          <a:prstGeom prst="roundRect">
            <a:avLst>
              <a:gd name="adj" fmla="val 3725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5875" y="6428333"/>
            <a:ext cx="266799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Talent &amp; capability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442746" y="6580733"/>
            <a:ext cx="13894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Owned, not rented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285875" y="6923633"/>
            <a:ext cx="7642574" cy="2020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in-house team that can train, align, and govern frontier-class models — and graduates who learned on a sovereign stack. </a:t>
            </a:r>
            <a:pPr algn="l" indent="0" marL="0">
              <a:lnSpc>
                <a:spcPct val="128043"/>
              </a:lnSpc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capability cannot be bought later at any price.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9248775" y="6133058"/>
            <a:ext cx="8086725" cy="3068092"/>
          </a:xfrm>
          <a:prstGeom prst="roundRect">
            <a:avLst>
              <a:gd name="adj" fmla="val 3725"/>
            </a:avLst>
          </a:prstGeom>
          <a:solidFill>
            <a:srgbClr val="10131A"/>
          </a:solidFill>
          <a:ln/>
        </p:spPr>
      </p:sp>
      <p:sp>
        <p:nvSpPr>
          <p:cNvPr id="19" name="Shape 17"/>
          <p:cNvSpPr/>
          <p:nvPr/>
        </p:nvSpPr>
        <p:spPr>
          <a:xfrm>
            <a:off x="9248775" y="6133058"/>
            <a:ext cx="8086725" cy="28575"/>
          </a:xfrm>
          <a:prstGeom prst="rect">
            <a:avLst/>
          </a:prstGeom>
          <a:gradFill rotWithShape="1">
            <a:gsLst>
              <a:gs pos="0">
                <a:srgbClr val="C8102E">
                  <a:alpha val="100000"/>
                </a:srgbClr>
              </a:gs>
              <a:gs pos="50000">
                <a:srgbClr val="7B2D8E">
                  <a:alpha val="100000"/>
                </a:srgbClr>
              </a:gs>
              <a:gs pos="100000">
                <a:srgbClr val="1F4E9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9572625" y="6418808"/>
            <a:ext cx="244616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National position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5228540" y="6571208"/>
            <a:ext cx="19614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education university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9572625" y="6914108"/>
            <a:ext cx="7662196" cy="203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ministries, MQA, and 20 public universities look for educational AI done right, they will look at </a:t>
            </a:r>
            <a:pPr algn="l" indent="0" marL="0">
              <a:lnSpc>
                <a:spcPct val="128043"/>
              </a:lnSpc>
              <a:buNone/>
            </a:pPr>
            <a:r>
              <a:rPr lang="en-US" sz="1425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university whose motto carries the torch </a:t>
            </a:r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That seat is taken by whoever builds first.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Publication plan and evaluation targets detailed in Part Six · Proof of rigor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28750" y="-1905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1F4E9E">
                  <a:alpha val="18000"/>
                </a:srgbClr>
              </a:gs>
              <a:gs pos="45000">
                <a:srgbClr val="C8102E">
                  <a:alpha val="8000"/>
                </a:srgbClr>
              </a:gs>
              <a:gs pos="70000">
                <a:srgbClr val="C810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955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3" kern="0" dirty="0">
                <a:solidFill>
                  <a:srgbClr val="FF5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FOUR · THE FOOTPRINT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3000" y="3987105"/>
            <a:ext cx="17602200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973"/>
              </a:lnSpc>
              <a:buNone/>
            </a:pPr>
            <a:r>
              <a:rPr lang="en-US" sz="14250" spc="-285" kern="0" dirty="0">
                <a:gradFill rotWithShape="1">
                  <a:gsLst>
                    <a:gs pos="30000">
                      <a:srgbClr val="FAF9F5">
                        <a:alpha val="100000"/>
                      </a:srgbClr>
                    </a:gs>
                    <a:gs pos="75000">
                      <a:srgbClr val="FF8A97">
                        <a:alpha val="100000"/>
                      </a:srgbClr>
                    </a:gs>
                    <a:gs pos="100000">
                      <a:srgbClr val="C86BE0">
                        <a:alpha val="100000"/>
                      </a:srgbClr>
                    </a:gs>
                  </a:gsLst>
                  <a:lin ang="600000" scaled="0"/>
                </a:gra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Where.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1143000" y="5937796"/>
            <a:ext cx="1030128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runs on five desktop nodes and 10,000 campus laptops — all inside the UPSI firewall. No data centre required.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344900" y="9353550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19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9075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· SOVEREIGN COMPUTE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20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912340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Five desktop nodes aggregate 896 GB; 10,000 laptops train the edge — and only adapter deltas ever move.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4005858"/>
            <a:ext cx="9126885" cy="4120902"/>
          </a:xfrm>
          <a:prstGeom prst="roundRect">
            <a:avLst>
              <a:gd name="adj" fmla="val 2774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4224933"/>
            <a:ext cx="8650635" cy="34199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0625" y="7721054"/>
            <a:ext cx="951569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10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— compute topology. </a:t>
            </a:r>
            <a:pPr algn="l" indent="0" marL="0">
              <a:lnSpc>
                <a:spcPct val="115294"/>
              </a:lnSpc>
              <a:buNone/>
            </a:pPr>
            <a:r>
              <a:rPr lang="en-US" sz="10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EXO disaggregates model layers across nodes; no single node holds the full 35B at FP16.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574685" y="4204246"/>
            <a:ext cx="3313658" cy="1038225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74710" y="4404271"/>
            <a:ext cx="320496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896 GB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774710" y="4861471"/>
            <a:ext cx="320496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memory, 5 nodes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14021693" y="4204246"/>
            <a:ext cx="3313807" cy="1038225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221718" y="4404271"/>
            <a:ext cx="32051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12U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4221718" y="4861471"/>
            <a:ext cx="32051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 cabinet — not a rack room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10574685" y="5394871"/>
            <a:ext cx="6760815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812810" y="5613946"/>
            <a:ext cx="691302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form factor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10812810" y="5890171"/>
            <a:ext cx="647310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Mac Studios and three DGX Sparks on ventilated shelves. A 30-minute UPS rides through outages.</a:t>
            </a:r>
            <a:endParaRPr lang="en-US" sz="1275" dirty="0"/>
          </a:p>
        </p:txBody>
      </p:sp>
      <p:sp>
        <p:nvSpPr>
          <p:cNvPr id="18" name="Shape 15"/>
          <p:cNvSpPr/>
          <p:nvPr/>
        </p:nvSpPr>
        <p:spPr>
          <a:xfrm>
            <a:off x="10574685" y="6747421"/>
            <a:ext cx="6760815" cy="1181100"/>
          </a:xfrm>
          <a:prstGeom prst="roundRect">
            <a:avLst>
              <a:gd name="adj" fmla="val 6452"/>
            </a:avLst>
          </a:prstGeom>
          <a:solidFill>
            <a:srgbClr val="10131A"/>
          </a:solidFill>
          <a:ln/>
        </p:spPr>
      </p:sp>
      <p:sp>
        <p:nvSpPr>
          <p:cNvPr id="19" name="Text 16"/>
          <p:cNvSpPr/>
          <p:nvPr/>
        </p:nvSpPr>
        <p:spPr>
          <a:xfrm>
            <a:off x="10803285" y="6956971"/>
            <a:ext cx="693397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8A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privacy guarantee</a:t>
            </a:r>
            <a:endParaRPr lang="en-US" sz="1425" dirty="0"/>
          </a:p>
        </p:txBody>
      </p:sp>
      <p:sp>
        <p:nvSpPr>
          <p:cNvPr id="20" name="Text 17"/>
          <p:cNvSpPr/>
          <p:nvPr/>
        </p:nvSpPr>
        <p:spPr>
          <a:xfrm>
            <a:off x="10803285" y="7233196"/>
            <a:ext cx="64927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laptop swarm exchanges only LoRA adapter deltas with the cluster — </a:t>
            </a:r>
            <a:pPr algn="l" indent="0" marL="0">
              <a:lnSpc>
                <a:spcPct val="127500"/>
              </a:lnSpc>
              <a:buNone/>
            </a:pPr>
            <a:r>
              <a:rPr lang="en-US" sz="1275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raw student data </a:t>
            </a:r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2" name="Text 19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Hardware total RM 200K · orchestration: EXO layer parallelism + vLLM · entire software stack open source (RM 0 licensing)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96750" y="504825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7B2D8E">
                  <a:alpha val="16000"/>
                </a:srgbClr>
              </a:gs>
              <a:gs pos="45000">
                <a:srgbClr val="C8102E">
                  <a:alpha val="8000"/>
                </a:srgbClr>
              </a:gs>
              <a:gs pos="70000">
                <a:srgbClr val="C8102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8955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3" kern="0" dirty="0">
                <a:solidFill>
                  <a:srgbClr val="FF5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FIVE · THE PLAN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3000" y="3987105"/>
            <a:ext cx="17602200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973"/>
              </a:lnSpc>
              <a:buNone/>
            </a:pPr>
            <a:r>
              <a:rPr lang="en-US" sz="14250" spc="-285" kern="0" dirty="0">
                <a:gradFill rotWithShape="1">
                  <a:gsLst>
                    <a:gs pos="30000">
                      <a:srgbClr val="FAF9F5">
                        <a:alpha val="100000"/>
                      </a:srgbClr>
                    </a:gs>
                    <a:gs pos="75000">
                      <a:srgbClr val="FF8A97">
                        <a:alpha val="100000"/>
                      </a:srgbClr>
                    </a:gs>
                    <a:gs pos="100000">
                      <a:srgbClr val="C86BE0">
                        <a:alpha val="100000"/>
                      </a:srgbClr>
                    </a:gs>
                  </a:gsLst>
                  <a:lin ang="600000" scaled="0"/>
                </a:gra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When.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1143000" y="5937796"/>
            <a:ext cx="1030128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tracks run in parallel across 12 months. The sovereign model is serving from Month 2 — value arrives early, not at the finish line.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344900" y="9353550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21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30239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 · THREE-TRACK ROADMAP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22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5108555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Three tracks, each matched to what its hardware can verifiably do — from anonymised cloud teachers down to campus laptops.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2779216"/>
            <a:ext cx="16383000" cy="5973663"/>
          </a:xfrm>
          <a:prstGeom prst="roundRect">
            <a:avLst>
              <a:gd name="adj" fmla="val 191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675" y="2998291"/>
            <a:ext cx="15868650" cy="553551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52500" y="8962430"/>
            <a:ext cx="5321201" cy="28575"/>
          </a:xfrm>
          <a:prstGeom prst="rect">
            <a:avLst/>
          </a:prstGeom>
          <a:solidFill>
            <a:srgbClr val="1F4E9E"/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9143405"/>
            <a:ext cx="58533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Cloud teacher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52500" y="9448205"/>
            <a:ext cx="548083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synthetic training data from anonymised rubrics. </a:t>
            </a:r>
            <a:pPr algn="l" indent="0" marL="0">
              <a:lnSpc>
                <a:spcPct val="123750"/>
              </a:lnSpc>
              <a:buNone/>
            </a:pPr>
            <a:r>
              <a:rPr lang="en-US" sz="1238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PII ever leaves UPSI. </a:t>
            </a:r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~RM 3–5K over 12 mo.</a:t>
            </a:r>
            <a:endParaRPr lang="en-US" sz="1238" dirty="0"/>
          </a:p>
        </p:txBody>
      </p:sp>
      <p:sp>
        <p:nvSpPr>
          <p:cNvPr id="11" name="Shape 8"/>
          <p:cNvSpPr/>
          <p:nvPr/>
        </p:nvSpPr>
        <p:spPr>
          <a:xfrm>
            <a:off x="6483251" y="8962430"/>
            <a:ext cx="5321350" cy="28575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9"/>
          <p:cNvSpPr/>
          <p:nvPr/>
        </p:nvSpPr>
        <p:spPr>
          <a:xfrm>
            <a:off x="6483251" y="9143405"/>
            <a:ext cx="58534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Sovereign teacher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83251" y="9448205"/>
            <a:ext cx="548099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35B MoE, served on-prem from Month 2 and continually adapted through six stages to DPO alignment.</a:t>
            </a:r>
            <a:endParaRPr lang="en-US" sz="1238" dirty="0"/>
          </a:p>
        </p:txBody>
      </p:sp>
      <p:sp>
        <p:nvSpPr>
          <p:cNvPr id="14" name="Shape 11"/>
          <p:cNvSpPr/>
          <p:nvPr/>
        </p:nvSpPr>
        <p:spPr>
          <a:xfrm>
            <a:off x="12014150" y="8962430"/>
            <a:ext cx="5321350" cy="28575"/>
          </a:xfrm>
          <a:prstGeom prst="rect">
            <a:avLst/>
          </a:prstGeom>
          <a:solidFill>
            <a:srgbClr val="67867F"/>
          </a:solidFill>
          <a:ln/>
        </p:spPr>
      </p:sp>
      <p:sp>
        <p:nvSpPr>
          <p:cNvPr id="15" name="Text 12"/>
          <p:cNvSpPr/>
          <p:nvPr/>
        </p:nvSpPr>
        <p:spPr>
          <a:xfrm>
            <a:off x="12014150" y="9143405"/>
            <a:ext cx="58534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Federated student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014150" y="9448205"/>
            <a:ext cx="548099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0.8–2B models distilled from the teacher, trained across 10,000 laptops under differential privacy.</a:t>
            </a:r>
            <a:endParaRPr lang="en-US" sz="1238" dirty="0"/>
          </a:p>
        </p:txBody>
      </p:sp>
      <p:sp>
        <p:nvSpPr>
          <p:cNvPr id="17" name="Shape 14"/>
          <p:cNvSpPr/>
          <p:nvPr/>
        </p:nvSpPr>
        <p:spPr>
          <a:xfrm>
            <a:off x="952500" y="9995892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" y="10138767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SFT = supervised fine-tuning · DPO = direct preference optimisation · LoRA = low-rank adaptation</a:t>
            </a:r>
            <a:endParaRPr lang="en-US" sz="9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500" y="-238125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C8102E">
                  <a:alpha val="18000"/>
                </a:srgbClr>
              </a:gs>
              <a:gs pos="45000">
                <a:srgbClr val="1F4E9E">
                  <a:alpha val="10000"/>
                </a:srgbClr>
              </a:gs>
              <a:gs pos="70000">
                <a:srgbClr val="1F4E9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348930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3" kern="0" dirty="0">
                <a:solidFill>
                  <a:srgbClr val="FF5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SIX · EXECUTION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3000" y="3787080"/>
            <a:ext cx="17602200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973"/>
              </a:lnSpc>
              <a:buNone/>
            </a:pPr>
            <a:r>
              <a:rPr lang="en-US" sz="14250" spc="-285" kern="0" dirty="0">
                <a:gradFill rotWithShape="1">
                  <a:gsLst>
                    <a:gs pos="30000">
                      <a:srgbClr val="FAF9F5">
                        <a:alpha val="100000"/>
                      </a:srgbClr>
                    </a:gs>
                    <a:gs pos="75000">
                      <a:srgbClr val="FF8A97">
                        <a:alpha val="100000"/>
                      </a:srgbClr>
                    </a:gs>
                    <a:gs pos="100000">
                      <a:srgbClr val="C86BE0">
                        <a:alpha val="100000"/>
                      </a:srgbClr>
                    </a:gs>
                  </a:gsLst>
                  <a:lin ang="600000" scaled="0"/>
                </a:gra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How.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1143000" y="5737771"/>
            <a:ext cx="1030128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proofs turn the plan into a fundable reality: novel research, a provenance engine that makes AI show its receipts, governance enforced in code, and economics that break even.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344900" y="9353550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23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79127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· 01 RESEARCH ENGINE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24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5108555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swarm is the research engine — three novel algorithms, evaluated at a 10,000-device scale few labs can replicate.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2798266"/>
            <a:ext cx="9023003" cy="5480000"/>
          </a:xfrm>
          <a:prstGeom prst="roundRect">
            <a:avLst>
              <a:gd name="adj" fmla="val 2086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675" y="3017341"/>
            <a:ext cx="8508653" cy="45733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9675" y="7685931"/>
            <a:ext cx="8763912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10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— the swarm loop. </a:t>
            </a:r>
            <a:pPr algn="l" indent="0" marL="0">
              <a:lnSpc>
                <a:spcPct val="115294"/>
              </a:lnSpc>
              <a:buNone/>
            </a:pPr>
            <a:r>
              <a:rPr lang="en-US" sz="10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Laptops train locally; APA-EF screens the updates; MA3 aggregates them into the teacher; LES-GA keeps faculty knowledge aligned.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394603" y="2798266"/>
            <a:ext cx="6940897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651778" y="3017341"/>
            <a:ext cx="4363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MA3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6323915" y="3112591"/>
            <a:ext cx="8306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AGGREGATION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51778" y="3322141"/>
            <a:ext cx="70692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Model-Agnostic Adaptive Aggregation</a:t>
            </a:r>
            <a:endParaRPr lang="en-US" sz="1163" dirty="0"/>
          </a:p>
        </p:txBody>
      </p:sp>
      <p:sp>
        <p:nvSpPr>
          <p:cNvPr id="13" name="Text 10"/>
          <p:cNvSpPr/>
          <p:nvPr/>
        </p:nvSpPr>
        <p:spPr>
          <a:xfrm>
            <a:off x="10651778" y="3579316"/>
            <a:ext cx="66193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 adapter updates by device capability — Mac Studios and campus laptops reconciled in one round.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10394603" y="4436566"/>
            <a:ext cx="6940897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51778" y="4655641"/>
            <a:ext cx="7963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APA-EF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598205" y="4750891"/>
            <a:ext cx="5563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651778" y="4960441"/>
            <a:ext cx="70692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Privacy-Aware Elastic Federated</a:t>
            </a:r>
            <a:endParaRPr lang="en-US" sz="1163" dirty="0"/>
          </a:p>
        </p:txBody>
      </p:sp>
      <p:sp>
        <p:nvSpPr>
          <p:cNvPr id="18" name="Text 15"/>
          <p:cNvSpPr/>
          <p:nvPr/>
        </p:nvSpPr>
        <p:spPr>
          <a:xfrm>
            <a:off x="10651778" y="5217616"/>
            <a:ext cx="66193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ε-differential privacy with top-k sparsification — 60–80% less traffic, no individual update ever inspected.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10394603" y="6074866"/>
            <a:ext cx="6940897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51778" y="6293941"/>
            <a:ext cx="7963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LES-GA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16460986" y="6389191"/>
            <a:ext cx="6935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ALIGNMENT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651778" y="6598741"/>
            <a:ext cx="70692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Localized Elastic Search, Gradient-Aligned</a:t>
            </a:r>
            <a:endParaRPr lang="en-US" sz="1163" dirty="0"/>
          </a:p>
        </p:txBody>
      </p:sp>
      <p:sp>
        <p:nvSpPr>
          <p:cNvPr id="23" name="Text 20"/>
          <p:cNvSpPr/>
          <p:nvPr/>
        </p:nvSpPr>
        <p:spPr>
          <a:xfrm>
            <a:off x="10651778" y="6855916"/>
            <a:ext cx="66193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Faculty-local RAG indexes stay consistent with the global curriculum base — no full-model retraining.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952500" y="8506867"/>
            <a:ext cx="16383000" cy="1352699"/>
          </a:xfrm>
          <a:prstGeom prst="roundRect">
            <a:avLst>
              <a:gd name="adj" fmla="val 8450"/>
            </a:avLst>
          </a:prstGeom>
          <a:solidFill>
            <a:srgbClr val="10131A"/>
          </a:solidFill>
          <a:ln/>
        </p:spPr>
      </p:sp>
      <p:sp>
        <p:nvSpPr>
          <p:cNvPr id="25" name="Text 22"/>
          <p:cNvSpPr/>
          <p:nvPr/>
        </p:nvSpPr>
        <p:spPr>
          <a:xfrm>
            <a:off x="1276350" y="8910786"/>
            <a:ext cx="1453455" cy="5828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650" b="1" dirty="0">
                <a:solidFill>
                  <a:srgbClr val="FF8A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Foundational proof: Psyche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3267373" y="8773567"/>
            <a:ext cx="14156606" cy="857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341"/>
              </a:lnSpc>
              <a:buNone/>
            </a:pPr>
            <a:r>
              <a:rPr lang="en-US" sz="138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Nous Research's </a:t>
            </a:r>
            <a:pPr algn="l" indent="0" marL="0">
              <a:lnSpc>
                <a:spcPct val="130341"/>
              </a:lnSpc>
              <a:buNone/>
            </a:pPr>
            <a:r>
              <a:rPr lang="en-US" sz="1388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Psyche </a:t>
            </a:r>
            <a:pPr algn="l" indent="0" marL="0">
              <a:lnSpc>
                <a:spcPct val="130341"/>
              </a:lnSpc>
              <a:buNone/>
            </a:pPr>
            <a:r>
              <a:rPr lang="en-US" sz="138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proved transformers can be trained across untrusted internet nodes. SULUH operates under a </a:t>
            </a:r>
            <a:pPr algn="l" indent="0" marL="0">
              <a:lnSpc>
                <a:spcPct val="130341"/>
              </a:lnSpc>
              <a:buNone/>
            </a:pPr>
            <a:r>
              <a:rPr lang="en-US" sz="1388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strictly easier trust assumption </a:t>
            </a:r>
            <a:pPr algn="l" indent="0" marL="0">
              <a:lnSpc>
                <a:spcPct val="130341"/>
              </a:lnSpc>
              <a:buNone/>
            </a:pPr>
            <a:r>
              <a:rPr lang="en-US" sz="138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all 10,000 devices are institution-owned — which is exactly what enables APA-EF privacy and LES-GA alignment. Our contribution is deploying it </a:t>
            </a:r>
            <a:pPr algn="l" indent="0" marL="0">
              <a:lnSpc>
                <a:spcPct val="130341"/>
              </a:lnSpc>
              <a:buNone/>
            </a:pPr>
            <a:r>
              <a:rPr lang="en-US" sz="1388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safely, privately, and educationally within a sovereign boundary </a:t>
            </a:r>
            <a:pPr algn="l" indent="0" marL="0">
              <a:lnSpc>
                <a:spcPct val="130341"/>
              </a:lnSpc>
              <a:buNone/>
            </a:pPr>
            <a:r>
              <a:rPr lang="en-US" sz="138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88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38380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· 02 ISRAG — THE TRUST ENGINE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25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28750"/>
            <a:ext cx="1569720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51"/>
              </a:lnSpc>
              <a:buNone/>
            </a:pPr>
            <a:r>
              <a:rPr lang="en-US" sz="3300" spc="-33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Chatbots fabricate up to half their citations. In education, that is disqualifying — IsRAG is the architecture built to end it.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2640211"/>
            <a:ext cx="3981450" cy="1148655"/>
          </a:xfrm>
          <a:prstGeom prst="roundRect">
            <a:avLst>
              <a:gd name="adj" fmla="val 8292"/>
            </a:avLst>
          </a:prstGeom>
          <a:solidFill>
            <a:srgbClr val="10131A"/>
          </a:solidFill>
          <a:ln/>
        </p:spPr>
      </p:sp>
      <p:sp>
        <p:nvSpPr>
          <p:cNvPr id="7" name="Text 5"/>
          <p:cNvSpPr/>
          <p:nvPr/>
        </p:nvSpPr>
        <p:spPr>
          <a:xfrm>
            <a:off x="1162050" y="2811661"/>
            <a:ext cx="39185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77"/>
              </a:lnSpc>
              <a:buNone/>
            </a:pPr>
            <a:r>
              <a:rPr lang="en-US" sz="2850" b="1" dirty="0">
                <a:solidFill>
                  <a:srgbClr val="FF8A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55% / 18%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62050" y="3230761"/>
            <a:ext cx="366922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108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citations fabricated by GPT-3.5 / GPT-4 in literature reviews (Walters &amp; Wilder)</a:t>
            </a:r>
            <a:endParaRPr lang="en-US" sz="1088" dirty="0"/>
          </a:p>
        </p:txBody>
      </p:sp>
      <p:sp>
        <p:nvSpPr>
          <p:cNvPr id="9" name="Shape 7"/>
          <p:cNvSpPr/>
          <p:nvPr/>
        </p:nvSpPr>
        <p:spPr>
          <a:xfrm>
            <a:off x="5086350" y="2640211"/>
            <a:ext cx="3981450" cy="1148655"/>
          </a:xfrm>
          <a:prstGeom prst="roundRect">
            <a:avLst>
              <a:gd name="adj" fmla="val 8292"/>
            </a:avLst>
          </a:prstGeom>
          <a:solidFill>
            <a:srgbClr val="10131A"/>
          </a:solidFill>
          <a:ln/>
        </p:spPr>
      </p:sp>
      <p:sp>
        <p:nvSpPr>
          <p:cNvPr id="10" name="Text 8"/>
          <p:cNvSpPr/>
          <p:nvPr/>
        </p:nvSpPr>
        <p:spPr>
          <a:xfrm>
            <a:off x="5295900" y="2811661"/>
            <a:ext cx="39185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77"/>
              </a:lnSpc>
              <a:buNone/>
            </a:pPr>
            <a:r>
              <a:rPr lang="en-US" sz="2850" b="1" dirty="0">
                <a:solidFill>
                  <a:srgbClr val="FF8A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56%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295900" y="3230761"/>
            <a:ext cx="366922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108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GPT-4o citations fake or erroneous in academic reviews (Deakin Univ., JMIR 2025)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9220200" y="2640211"/>
            <a:ext cx="3981450" cy="1148655"/>
          </a:xfrm>
          <a:prstGeom prst="roundRect">
            <a:avLst>
              <a:gd name="adj" fmla="val 8292"/>
            </a:avLst>
          </a:prstGeom>
          <a:solidFill>
            <a:srgbClr val="10131A"/>
          </a:solidFill>
          <a:ln/>
        </p:spPr>
      </p:sp>
      <p:sp>
        <p:nvSpPr>
          <p:cNvPr id="13" name="Text 11"/>
          <p:cNvSpPr/>
          <p:nvPr/>
        </p:nvSpPr>
        <p:spPr>
          <a:xfrm>
            <a:off x="9429750" y="2811661"/>
            <a:ext cx="39185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77"/>
              </a:lnSpc>
              <a:buNone/>
            </a:pPr>
            <a:r>
              <a:rPr lang="en-US" sz="2850" b="1" dirty="0">
                <a:solidFill>
                  <a:srgbClr val="FF8A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58–88%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429750" y="3230761"/>
            <a:ext cx="366922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108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hallucination rates on legal queries across major models (Stanford)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13354050" y="2640211"/>
            <a:ext cx="3981450" cy="1148655"/>
          </a:xfrm>
          <a:prstGeom prst="roundRect">
            <a:avLst>
              <a:gd name="adj" fmla="val 8292"/>
            </a:avLst>
          </a:prstGeom>
          <a:solidFill>
            <a:srgbClr val="10131A"/>
          </a:solidFill>
          <a:ln/>
        </p:spPr>
      </p:sp>
      <p:sp>
        <p:nvSpPr>
          <p:cNvPr id="16" name="Text 14"/>
          <p:cNvSpPr/>
          <p:nvPr/>
        </p:nvSpPr>
        <p:spPr>
          <a:xfrm>
            <a:off x="13563600" y="2811661"/>
            <a:ext cx="39185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77"/>
              </a:lnSpc>
              <a:buNone/>
            </a:pPr>
            <a:r>
              <a:rPr lang="en-US" sz="2850" b="1" dirty="0">
                <a:solidFill>
                  <a:srgbClr val="FF8A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Worst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3563600" y="3230761"/>
            <a:ext cx="366922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108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students need help most: niche, low-resource topics — exactly UPSI's Malay-language domain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952500" y="4606975"/>
            <a:ext cx="8826401" cy="1680567"/>
          </a:xfrm>
          <a:prstGeom prst="roundRect">
            <a:avLst>
              <a:gd name="adj" fmla="val 6801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7775" y="4864150"/>
            <a:ext cx="90594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ANSWER CARRIES ITS CHAIN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1247775" y="5178475"/>
            <a:ext cx="2580084" cy="851892"/>
          </a:xfrm>
          <a:prstGeom prst="roundRect">
            <a:avLst>
              <a:gd name="adj" fmla="val 11181"/>
            </a:avLst>
          </a:prstGeom>
          <a:solidFill>
            <a:srgbClr val="FBEDEF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6888" y="5321350"/>
            <a:ext cx="24818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5540425"/>
            <a:ext cx="2332434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906"/>
              </a:lnSpc>
              <a:buNone/>
            </a:pPr>
            <a:r>
              <a:rPr lang="en-US" sz="1013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author, verifier &amp; adapter, immutable</a:t>
            </a:r>
            <a:endParaRPr lang="en-US" sz="1013" dirty="0"/>
          </a:p>
        </p:txBody>
      </p:sp>
      <p:sp>
        <p:nvSpPr>
          <p:cNvPr id="23" name="Shape 21"/>
          <p:cNvSpPr/>
          <p:nvPr/>
        </p:nvSpPr>
        <p:spPr>
          <a:xfrm>
            <a:off x="3827859" y="5594896"/>
            <a:ext cx="247650" cy="19050"/>
          </a:xfrm>
          <a:prstGeom prst="rect">
            <a:avLst/>
          </a:prstGeom>
          <a:gradFill rotWithShape="1">
            <a:gsLst>
              <a:gs pos="0">
                <a:srgbClr val="C8102E">
                  <a:alpha val="100000"/>
                </a:srgbClr>
              </a:gs>
              <a:gs pos="100000">
                <a:srgbClr val="7B2D8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4075509" y="5265241"/>
            <a:ext cx="2580233" cy="678359"/>
          </a:xfrm>
          <a:prstGeom prst="roundRect">
            <a:avLst>
              <a:gd name="adj" fmla="val 14041"/>
            </a:avLst>
          </a:prstGeom>
          <a:solidFill>
            <a:srgbClr val="F3ECF7"/>
          </a:solidFill>
          <a:ln w="9525">
            <a:solidFill>
              <a:srgbClr val="7B2D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24615" y="5408116"/>
            <a:ext cx="24820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24615" y="5627191"/>
            <a:ext cx="2482022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906"/>
              </a:lnSpc>
              <a:buNone/>
            </a:pPr>
            <a:r>
              <a:rPr lang="en-US" sz="1013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5-factor TrustEngine, 0–1 calibrated</a:t>
            </a:r>
            <a:endParaRPr lang="en-US" sz="1013" dirty="0"/>
          </a:p>
        </p:txBody>
      </p:sp>
      <p:sp>
        <p:nvSpPr>
          <p:cNvPr id="27" name="Shape 25"/>
          <p:cNvSpPr/>
          <p:nvPr/>
        </p:nvSpPr>
        <p:spPr>
          <a:xfrm>
            <a:off x="6655743" y="5594896"/>
            <a:ext cx="247650" cy="19050"/>
          </a:xfrm>
          <a:prstGeom prst="rect">
            <a:avLst/>
          </a:prstGeom>
          <a:gradFill rotWithShape="1">
            <a:gsLst>
              <a:gs pos="0">
                <a:srgbClr val="7B2D8E">
                  <a:alpha val="100000"/>
                </a:srgbClr>
              </a:gs>
              <a:gs pos="100000">
                <a:srgbClr val="1F4E9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8" name="Shape 26"/>
          <p:cNvSpPr/>
          <p:nvPr/>
        </p:nvSpPr>
        <p:spPr>
          <a:xfrm>
            <a:off x="6903393" y="5178475"/>
            <a:ext cx="2580233" cy="851892"/>
          </a:xfrm>
          <a:prstGeom prst="roundRect">
            <a:avLst>
              <a:gd name="adj" fmla="val 11181"/>
            </a:avLst>
          </a:prstGeom>
          <a:solidFill>
            <a:srgbClr val="ECF0F6"/>
          </a:solidFill>
          <a:ln w="9525">
            <a:solidFill>
              <a:srgbClr val="1F4E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52498" y="5321350"/>
            <a:ext cx="24820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context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27218" y="5540425"/>
            <a:ext cx="2332583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906"/>
              </a:lnSpc>
              <a:buNone/>
            </a:pPr>
            <a:r>
              <a:rPr lang="en-US" sz="1013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13-framework registry, incl. Malaysian &amp; Islamic</a:t>
            </a:r>
            <a:endParaRPr lang="en-US" sz="1013" dirty="0"/>
          </a:p>
        </p:txBody>
      </p:sp>
      <p:sp>
        <p:nvSpPr>
          <p:cNvPr id="31" name="Shape 29"/>
          <p:cNvSpPr/>
          <p:nvPr/>
        </p:nvSpPr>
        <p:spPr>
          <a:xfrm>
            <a:off x="952500" y="6478042"/>
            <a:ext cx="8826401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47775" y="6735217"/>
            <a:ext cx="90594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TRUSTENGINE — FIVE WEIGHTED FACTORS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247775" y="7049542"/>
            <a:ext cx="19907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level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90875" y="7078117"/>
            <a:ext cx="5797451" cy="133350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35" name="Shape 33"/>
          <p:cNvSpPr/>
          <p:nvPr/>
        </p:nvSpPr>
        <p:spPr>
          <a:xfrm>
            <a:off x="3190875" y="7078117"/>
            <a:ext cx="1739205" cy="133350"/>
          </a:xfrm>
          <a:prstGeom prst="rect">
            <a:avLst/>
          </a:prstGeom>
          <a:gradFill rotWithShape="1">
            <a:gsLst>
              <a:gs pos="0">
                <a:srgbClr val="C8102E">
                  <a:alpha val="100000"/>
                </a:srgbClr>
              </a:gs>
              <a:gs pos="100000">
                <a:srgbClr val="E9808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6" name="Text 34"/>
          <p:cNvSpPr/>
          <p:nvPr/>
        </p:nvSpPr>
        <p:spPr>
          <a:xfrm>
            <a:off x="9045476" y="7063829"/>
            <a:ext cx="4381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414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30%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247775" y="7325767"/>
            <a:ext cx="19907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credibility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190875" y="7354342"/>
            <a:ext cx="5797451" cy="133350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39" name="Shape 37"/>
          <p:cNvSpPr/>
          <p:nvPr/>
        </p:nvSpPr>
        <p:spPr>
          <a:xfrm>
            <a:off x="3190875" y="7354342"/>
            <a:ext cx="1449288" cy="133350"/>
          </a:xfrm>
          <a:prstGeom prst="rect">
            <a:avLst/>
          </a:prstGeom>
          <a:gradFill rotWithShape="1">
            <a:gsLst>
              <a:gs pos="0">
                <a:srgbClr val="C8102E">
                  <a:alpha val="100000"/>
                </a:srgbClr>
              </a:gs>
              <a:gs pos="100000">
                <a:srgbClr val="E9808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0" name="Text 38"/>
          <p:cNvSpPr/>
          <p:nvPr/>
        </p:nvSpPr>
        <p:spPr>
          <a:xfrm>
            <a:off x="9045476" y="7340054"/>
            <a:ext cx="4381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414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25%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247775" y="7601992"/>
            <a:ext cx="19907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quality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90875" y="7630567"/>
            <a:ext cx="5797451" cy="133350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43" name="Shape 41"/>
          <p:cNvSpPr/>
          <p:nvPr/>
        </p:nvSpPr>
        <p:spPr>
          <a:xfrm>
            <a:off x="3190875" y="7630567"/>
            <a:ext cx="1159371" cy="133350"/>
          </a:xfrm>
          <a:prstGeom prst="rect">
            <a:avLst/>
          </a:prstGeom>
          <a:gradFill rotWithShape="1">
            <a:gsLst>
              <a:gs pos="0">
                <a:srgbClr val="7B2D8E">
                  <a:alpha val="100000"/>
                </a:srgbClr>
              </a:gs>
              <a:gs pos="100000">
                <a:srgbClr val="C86BE0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4" name="Text 42"/>
          <p:cNvSpPr/>
          <p:nvPr/>
        </p:nvSpPr>
        <p:spPr>
          <a:xfrm>
            <a:off x="9045476" y="7616279"/>
            <a:ext cx="4381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414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20%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247775" y="7878217"/>
            <a:ext cx="19907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Cross-references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90875" y="7906792"/>
            <a:ext cx="5797451" cy="133350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47" name="Shape 45"/>
          <p:cNvSpPr/>
          <p:nvPr/>
        </p:nvSpPr>
        <p:spPr>
          <a:xfrm>
            <a:off x="3190875" y="7906792"/>
            <a:ext cx="869603" cy="133350"/>
          </a:xfrm>
          <a:prstGeom prst="rect">
            <a:avLst/>
          </a:prstGeom>
          <a:gradFill rotWithShape="1">
            <a:gsLst>
              <a:gs pos="0">
                <a:srgbClr val="1F4E9E">
                  <a:alpha val="100000"/>
                </a:srgbClr>
              </a:gs>
              <a:gs pos="100000">
                <a:srgbClr val="6B9BF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8" name="Text 46"/>
          <p:cNvSpPr/>
          <p:nvPr/>
        </p:nvSpPr>
        <p:spPr>
          <a:xfrm>
            <a:off x="9045476" y="7892504"/>
            <a:ext cx="4381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414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15%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247775" y="8154442"/>
            <a:ext cx="19907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190875" y="8183017"/>
            <a:ext cx="5797451" cy="133350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51" name="Shape 49"/>
          <p:cNvSpPr/>
          <p:nvPr/>
        </p:nvSpPr>
        <p:spPr>
          <a:xfrm>
            <a:off x="3190875" y="8183017"/>
            <a:ext cx="579686" cy="133350"/>
          </a:xfrm>
          <a:prstGeom prst="rect">
            <a:avLst/>
          </a:prstGeom>
          <a:gradFill rotWithShape="1">
            <a:gsLst>
              <a:gs pos="0">
                <a:srgbClr val="1F4E9E">
                  <a:alpha val="100000"/>
                </a:srgbClr>
              </a:gs>
              <a:gs pos="100000">
                <a:srgbClr val="6B9BF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52" name="Text 50"/>
          <p:cNvSpPr/>
          <p:nvPr/>
        </p:nvSpPr>
        <p:spPr>
          <a:xfrm>
            <a:off x="9045476" y="8168729"/>
            <a:ext cx="4381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414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10%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0274201" y="4048423"/>
            <a:ext cx="7272985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chatbot's fabricated citation looks identical to a real one — and a student cannot tell the difference. Retrieval alone doesn't fix it: even RAG systems still fabricate. </a:t>
            </a:r>
            <a:pPr algn="l" indent="0" marL="0">
              <a:lnSpc>
                <a:spcPct val="129167"/>
              </a:lnSpc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citation tells you where; an isnad tells you whether to trust. </a:t>
            </a:r>
            <a:pPr algn="l" indent="0" marL="0">
              <a:lnSpc>
                <a:spcPct val="129167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IsRAG verifies every claim against a provenance chain before it ever reaches a student.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0274201" y="5715298"/>
            <a:ext cx="3463826" cy="1266825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74226" y="5915323"/>
            <a:ext cx="337015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 to 10×</a:t>
            </a:r>
            <a:endParaRPr lang="en-US" sz="2700" dirty="0"/>
          </a:p>
        </p:txBody>
      </p:sp>
      <p:sp>
        <p:nvSpPr>
          <p:cNvPr id="56" name="Text 54"/>
          <p:cNvSpPr/>
          <p:nvPr/>
        </p:nvSpPr>
        <p:spPr>
          <a:xfrm>
            <a:off x="10474226" y="6420148"/>
            <a:ext cx="315568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false citations than today's chatbots — ≤5% golden-set target vs their 18–56%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13871377" y="5715298"/>
            <a:ext cx="3463975" cy="1266825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071402" y="5915323"/>
            <a:ext cx="3370317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100%</a:t>
            </a:r>
            <a:endParaRPr lang="en-US" sz="2700" dirty="0"/>
          </a:p>
        </p:txBody>
      </p:sp>
      <p:sp>
        <p:nvSpPr>
          <p:cNvPr id="59" name="Text 57"/>
          <p:cNvSpPr/>
          <p:nvPr/>
        </p:nvSpPr>
        <p:spPr>
          <a:xfrm>
            <a:off x="14071402" y="6420148"/>
            <a:ext cx="315584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answers auditable — IRB &amp; PDPA-ready by design</a:t>
            </a:r>
            <a:endParaRPr lang="en-US" sz="1125" dirty="0"/>
          </a:p>
        </p:txBody>
      </p:sp>
      <p:sp>
        <p:nvSpPr>
          <p:cNvPr id="60" name="Shape 58"/>
          <p:cNvSpPr/>
          <p:nvPr/>
        </p:nvSpPr>
        <p:spPr>
          <a:xfrm>
            <a:off x="10274201" y="7172623"/>
            <a:ext cx="7061150" cy="1988046"/>
          </a:xfrm>
          <a:prstGeom prst="roundRect">
            <a:avLst>
              <a:gd name="adj" fmla="val 5749"/>
            </a:avLst>
          </a:prstGeom>
          <a:solidFill>
            <a:srgbClr val="10131A"/>
          </a:solidFill>
          <a:ln/>
        </p:spPr>
      </p:sp>
      <p:sp>
        <p:nvSpPr>
          <p:cNvPr id="61" name="Text 59"/>
          <p:cNvSpPr/>
          <p:nvPr/>
        </p:nvSpPr>
        <p:spPr>
          <a:xfrm>
            <a:off x="10540901" y="7401223"/>
            <a:ext cx="71805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8A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is the only viable answer for educational AI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10540901" y="7677448"/>
            <a:ext cx="6723583" cy="1292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university cannot deploy a system that invents scholarship — every false citation is a defective teaching act with accreditation consequences. Frontier chatbots answer; </a:t>
            </a:r>
            <a:pPr algn="l" indent="0" marL="0">
              <a:lnSpc>
                <a:spcPct val="131750"/>
              </a:lnSpc>
              <a:buNone/>
            </a:pPr>
            <a:r>
              <a:rPr lang="en-US" sz="1275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SULUH answers and proves </a:t>
            </a:r>
            <a:pPr algn="l" indent="0" marL="0">
              <a:lnSpc>
                <a:spcPct val="131750"/>
              </a:lnSpc>
              <a:buNone/>
            </a:pPr>
            <a:r>
              <a:rPr lang="en-US" sz="1275" dirty="0">
                <a:solidFill>
                  <a:srgbClr val="C9C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adapting the Isnad (إسناد) — Islamic scholarship's millennium-old chain-of-transmission methodology — born naturally at a Malaysian university.</a:t>
            </a:r>
            <a:endParaRPr lang="en-US" sz="1275" dirty="0"/>
          </a:p>
        </p:txBody>
      </p:sp>
      <p:sp>
        <p:nvSpPr>
          <p:cNvPr id="63" name="Shape 61"/>
          <p:cNvSpPr/>
          <p:nvPr/>
        </p:nvSpPr>
        <p:spPr>
          <a:xfrm>
            <a:off x="952500" y="92487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64" name="Text 62"/>
          <p:cNvSpPr/>
          <p:nvPr/>
        </p:nvSpPr>
        <p:spPr>
          <a:xfrm>
            <a:off x="952500" y="9391650"/>
            <a:ext cx="168744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Sources: Walters &amp; Wilder 2023 (42 topics) · Linardon et al., JMIR 2025 (GPT-4o: 19.9% fabricated + 45.4% erroneous) · Stanford HAI legal-hallucination studies · pooled 6-study fabrication rate 51% (PMC 2023) · Paper 1: IsRAG, target ACL/EMNLP/FAccT, evaluated on the 200-pair bilingual golden set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2097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· 03 GOVERNANCE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912340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PDPA is enforced in code at one layer — not promised in policy — so no harness can bypass it, and every 2024 amendment maps to a gate.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4120902"/>
            <a:ext cx="8001000" cy="121443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8725" y="4387602"/>
            <a:ext cx="596354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01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939379" y="4359027"/>
            <a:ext cx="74116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 &amp; purpose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39379" y="4625727"/>
            <a:ext cx="6940033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Granular per-harness opt-in — </a:t>
            </a:r>
            <a:pPr algn="l" indent="0" marL="0">
              <a:lnSpc>
                <a:spcPct val="123750"/>
              </a:lnSpc>
              <a:buNone/>
            </a:pPr>
            <a:r>
              <a:rPr lang="en-US" sz="1050" dirty="0">
                <a:solidFill>
                  <a:srgbClr val="6E6D66"/>
                </a:solidFill>
                <a:highlight>
                  <a:srgbClr val="F0EEE6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pdpa_gate.py </a:t>
            </a:r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rejects non-consented queries at the API boundary.</a:t>
            </a:r>
            <a:endParaRPr lang="en-US" sz="1238" dirty="0"/>
          </a:p>
        </p:txBody>
      </p:sp>
      <p:sp>
        <p:nvSpPr>
          <p:cNvPr id="10" name="Shape 8"/>
          <p:cNvSpPr/>
          <p:nvPr/>
        </p:nvSpPr>
        <p:spPr>
          <a:xfrm>
            <a:off x="9334500" y="4120902"/>
            <a:ext cx="8001000" cy="121443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10725" y="4387602"/>
            <a:ext cx="596354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02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321379" y="4359027"/>
            <a:ext cx="71405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minimisation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21379" y="4625727"/>
            <a:ext cx="7140580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7-year retention with 3-year auto-purge, enforced by PostgreSQL TTL and a cron audit.</a:t>
            </a:r>
            <a:endParaRPr lang="en-US" sz="1238" dirty="0"/>
          </a:p>
        </p:txBody>
      </p:sp>
      <p:sp>
        <p:nvSpPr>
          <p:cNvPr id="14" name="Shape 12"/>
          <p:cNvSpPr/>
          <p:nvPr/>
        </p:nvSpPr>
        <p:spPr>
          <a:xfrm>
            <a:off x="952500" y="5487739"/>
            <a:ext cx="8001000" cy="121443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8725" y="5754439"/>
            <a:ext cx="596354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939379" y="5725864"/>
            <a:ext cx="56796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39379" y="5992564"/>
            <a:ext cx="5679624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AES-256 at rest, TLS 1.3 in transit, with automated certificate rotation.</a:t>
            </a:r>
            <a:endParaRPr lang="en-US" sz="1238" dirty="0"/>
          </a:p>
        </p:txBody>
      </p:sp>
      <p:sp>
        <p:nvSpPr>
          <p:cNvPr id="18" name="Shape 16"/>
          <p:cNvSpPr/>
          <p:nvPr/>
        </p:nvSpPr>
        <p:spPr>
          <a:xfrm>
            <a:off x="9334500" y="5487739"/>
            <a:ext cx="8001000" cy="121443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0725" y="5754439"/>
            <a:ext cx="596354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04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0321379" y="5725864"/>
            <a:ext cx="74116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privacy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321379" y="5992564"/>
            <a:ext cx="6940033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ε-differential privacy on every swarm update — no device identifier in the gradient payload.</a:t>
            </a:r>
            <a:endParaRPr lang="en-US" sz="1238" dirty="0"/>
          </a:p>
        </p:txBody>
      </p:sp>
      <p:sp>
        <p:nvSpPr>
          <p:cNvPr id="22" name="Shape 20"/>
          <p:cNvSpPr/>
          <p:nvPr/>
        </p:nvSpPr>
        <p:spPr>
          <a:xfrm>
            <a:off x="952500" y="6854577"/>
            <a:ext cx="16383000" cy="1195388"/>
          </a:xfrm>
          <a:prstGeom prst="roundRect">
            <a:avLst>
              <a:gd name="adj" fmla="val 7968"/>
            </a:avLst>
          </a:prstGeom>
          <a:solidFill>
            <a:srgbClr val="10131A"/>
          </a:solidFill>
          <a:ln/>
        </p:spPr>
      </p:sp>
      <p:sp>
        <p:nvSpPr>
          <p:cNvPr id="23" name="Text 21"/>
          <p:cNvSpPr/>
          <p:nvPr/>
        </p:nvSpPr>
        <p:spPr>
          <a:xfrm>
            <a:off x="1219200" y="7111752"/>
            <a:ext cx="596354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05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929854" y="7083177"/>
            <a:ext cx="16652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Accountability — the amendment's own checklist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29854" y="7349877"/>
            <a:ext cx="15593114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registered DPO from Day 1 </a:t>
            </a:r>
            <a:pPr algn="l" indent="0" marL="0">
              <a:lnSpc>
                <a:spcPct val="123750"/>
              </a:lnSpc>
              <a:buNone/>
            </a:pPr>
            <a:r>
              <a:rPr lang="en-US" sz="1238" i="1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(mandatory since Jun 2025)</a:t>
            </a:r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annual audit, 72-hour breach notification drill, IRB review, and full LangFuse trace logging — </a:t>
            </a:r>
            <a:pPr algn="l" indent="0" marL="0">
              <a:lnSpc>
                <a:spcPct val="123750"/>
              </a:lnSpc>
              <a:buNone/>
            </a:pPr>
            <a:r>
              <a:rPr lang="en-US" sz="1238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due-diligence evidence that shields UPSI's officers from personal liability </a:t>
            </a:r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38" dirty="0"/>
          </a:p>
        </p:txBody>
      </p:sp>
      <p:sp>
        <p:nvSpPr>
          <p:cNvPr id="26" name="Shape 24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Enforced at Layer 3 (orchestration) once for all four harnesses · no application touches raw data directly · maps to PDPA (Amendment) Act 2024 obligations</a:t>
            </a:r>
            <a:endParaRPr lang="en-US" sz="9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093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· 04 ECONOMICS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27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912340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SULUH crosses below every cloud line by Month 14 — and saves RM 240–600K by Month 36.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4157811"/>
            <a:ext cx="9532590" cy="3817144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675" y="4395936"/>
            <a:ext cx="9018240" cy="30971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9675" y="7550200"/>
            <a:ext cx="9920064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10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— cumulative 36-month cost. </a:t>
            </a:r>
            <a:pPr algn="l" indent="0" marL="0">
              <a:lnSpc>
                <a:spcPct val="115294"/>
              </a:lnSpc>
              <a:buNone/>
            </a:pPr>
            <a:r>
              <a:rPr lang="en-US" sz="105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SULUH's curve flattens after the build; cloud keeps accumulating at RM 15–25K/month.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980390" y="3730377"/>
            <a:ext cx="635511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18515" y="3949452"/>
            <a:ext cx="646674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Month 14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11218515" y="4482852"/>
            <a:ext cx="64667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breakeven against every cloud option</a:t>
            </a:r>
            <a:endParaRPr lang="en-US" sz="1238" dirty="0"/>
          </a:p>
        </p:txBody>
      </p:sp>
      <p:sp>
        <p:nvSpPr>
          <p:cNvPr id="12" name="Shape 9"/>
          <p:cNvSpPr/>
          <p:nvPr/>
        </p:nvSpPr>
        <p:spPr>
          <a:xfrm>
            <a:off x="10980390" y="5044827"/>
            <a:ext cx="635511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18515" y="5263902"/>
            <a:ext cx="646674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300K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11218515" y="5797302"/>
            <a:ext cx="64667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36-month total cost of ownership</a:t>
            </a:r>
            <a:endParaRPr lang="en-US" sz="1238" dirty="0"/>
          </a:p>
        </p:txBody>
      </p:sp>
      <p:sp>
        <p:nvSpPr>
          <p:cNvPr id="15" name="Shape 12"/>
          <p:cNvSpPr/>
          <p:nvPr/>
        </p:nvSpPr>
        <p:spPr>
          <a:xfrm>
            <a:off x="10980390" y="6359277"/>
            <a:ext cx="635511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218515" y="6578352"/>
            <a:ext cx="646674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30K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11218515" y="7111752"/>
            <a:ext cx="64667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OPEX in steady state</a:t>
            </a:r>
            <a:endParaRPr lang="en-US" sz="1238" dirty="0"/>
          </a:p>
        </p:txBody>
      </p:sp>
      <p:sp>
        <p:nvSpPr>
          <p:cNvPr id="18" name="Text 15"/>
          <p:cNvSpPr/>
          <p:nvPr/>
        </p:nvSpPr>
        <p:spPr>
          <a:xfrm>
            <a:off x="10980390" y="7673727"/>
            <a:ext cx="6545763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the asset is owned: capability, model weights, and data all stay with UPSI — plus the unquantified saving of </a:t>
            </a:r>
            <a:pPr algn="l" indent="0" marL="0">
              <a:lnSpc>
                <a:spcPct val="127500"/>
              </a:lnSpc>
              <a:buNone/>
            </a:pPr>
            <a:r>
              <a:rPr lang="en-US" sz="1275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 risk removed </a:t>
            </a:r>
            <a:pPr algn="l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(avg. Malaysian breach: RM 3.2M).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20" name="Text 17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TCO = total cost of ownership · cloud lines assume RM 15–25K/month at UPSI-scale usage · breach cost: Simply Data Malaysia Threat Report 2025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23260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· PROOF OF RIGOR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28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912340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Success is measured, not asserted — a bilingual golden-set evaluation and five planned publications.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52500" y="4130427"/>
            <a:ext cx="87172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METRICS · 200-PAIR GOLDEN SET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52500" y="4473327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4659064"/>
            <a:ext cx="329435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Grading accuracy (rubric adherence)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85832" y="4616202"/>
            <a:ext cx="6676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≥ 85%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52500" y="5140077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525" y="5325814"/>
            <a:ext cx="31204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Curriculum compliance (KPT/MQA)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85832" y="5282952"/>
            <a:ext cx="6676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≥ 90%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52500" y="5806827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525" y="5992564"/>
            <a:ext cx="21172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Malay language fluency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85832" y="5949702"/>
            <a:ext cx="6676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≥ 90%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2500" y="6473577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525" y="6659314"/>
            <a:ext cx="30363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Hallucination rate (IsRAG-verified)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00579" y="6616452"/>
            <a:ext cx="5528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≤ 5%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52500" y="7140327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2525" y="7326064"/>
            <a:ext cx="15742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PDPA compliance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34052" y="7283202"/>
            <a:ext cx="6194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10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100%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52500" y="7845177"/>
            <a:ext cx="87172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112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Benchmarked against Kimi K3, Claude, Gemma 4 and GPT-4o · authored by 30+ UPSI researchers.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410700" y="4304258"/>
            <a:ext cx="87172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PLANNED PUBLICATIONS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10700" y="4647158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0725" y="4790033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010775" y="4847183"/>
            <a:ext cx="691302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IsRAG </a:t>
            </a:r>
            <a:pPr algn="l" indent="0" marL="0">
              <a:buNone/>
            </a:pPr>
            <a:r>
              <a:rPr lang="en-US" sz="120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Isnad-chain provenance RAG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66790" y="4885283"/>
            <a:ext cx="7448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4E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ACL/EMNLP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9410700" y="5313908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0725" y="5456783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0010775" y="5513933"/>
            <a:ext cx="72399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Dewan Council </a:t>
            </a:r>
            <a:pPr algn="l" indent="0" marL="0">
              <a:buNone/>
            </a:pPr>
            <a:r>
              <a:rPr lang="en-US" sz="120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multi-agent deliberation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764000" y="5552033"/>
            <a:ext cx="447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4E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EMNLP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9410700" y="5980658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10725" y="6123533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0010775" y="6180683"/>
            <a:ext cx="691302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SULUH AI </a:t>
            </a:r>
            <a:pPr algn="l" indent="0" marL="0">
              <a:buNone/>
            </a:pPr>
            <a:r>
              <a:rPr lang="en-US" sz="120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sovereign 35B model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466790" y="6218783"/>
            <a:ext cx="7448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4E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Nature MI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9410700" y="6647408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10725" y="6790283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0010775" y="6847433"/>
            <a:ext cx="70764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Swarm </a:t>
            </a:r>
            <a:pPr algn="l" indent="0" marL="0">
              <a:buNone/>
            </a:pPr>
            <a:r>
              <a:rPr lang="en-US" sz="120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MA3, APA-EF, LES-GA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615321" y="6885533"/>
            <a:ext cx="596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4E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NeurIPS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9410700" y="7314158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10725" y="7457033"/>
            <a:ext cx="304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0010775" y="7514183"/>
            <a:ext cx="69947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Study </a:t>
            </a:r>
            <a:pPr algn="l" indent="0" marL="0">
              <a:buNone/>
            </a:pPr>
            <a:r>
              <a:rPr lang="en-US" sz="1200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four-harness evaluation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6541055" y="7552283"/>
            <a:ext cx="6706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4E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LAK/AIED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Latency targets: &lt;3s grading, &lt;1s chat · IRB gate accuracy ≥98% · full metric set in the proposal appendix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33475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17445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C810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· EYES OPEN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535400" y="8096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29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466850"/>
            <a:ext cx="14912340" cy="104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968"/>
              </a:lnSpc>
              <a:buNone/>
            </a:pPr>
            <a:r>
              <a:rPr lang="en-US" sz="3450" spc="-34" kern="0" dirty="0">
                <a:solidFill>
                  <a:srgbClr val="1414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 are asking with eyes open — every major risk has a named mitigation already in the plan.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4455616"/>
            <a:ext cx="16383000" cy="1905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4217491"/>
            <a:ext cx="678205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594253" y="4217491"/>
            <a:ext cx="9334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IMPACT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680103" y="4217491"/>
            <a:ext cx="924852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MITIGATION IN PLAN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952500" y="4588966"/>
            <a:ext cx="16383000" cy="558552"/>
          </a:xfrm>
          <a:prstGeom prst="roundRect">
            <a:avLst>
              <a:gd name="adj" fmla="val 13642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9675" y="4763393"/>
            <a:ext cx="67732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88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underperforms on bilingual tasks</a:t>
            </a:r>
            <a:endParaRPr lang="en-US" sz="1388" dirty="0"/>
          </a:p>
        </p:txBody>
      </p:sp>
      <p:sp>
        <p:nvSpPr>
          <p:cNvPr id="12" name="Shape 10"/>
          <p:cNvSpPr/>
          <p:nvPr/>
        </p:nvSpPr>
        <p:spPr>
          <a:xfrm>
            <a:off x="7595741" y="4758630"/>
            <a:ext cx="857250" cy="219075"/>
          </a:xfrm>
          <a:prstGeom prst="roundRect">
            <a:avLst>
              <a:gd name="adj" fmla="val 50000"/>
            </a:avLst>
          </a:prstGeom>
          <a:solidFill>
            <a:srgbClr val="F9E3E7"/>
          </a:solidFill>
          <a:ln/>
        </p:spPr>
      </p:sp>
      <p:sp>
        <p:nvSpPr>
          <p:cNvPr id="13" name="Text 11"/>
          <p:cNvSpPr/>
          <p:nvPr/>
        </p:nvSpPr>
        <p:spPr>
          <a:xfrm>
            <a:off x="7652891" y="4787205"/>
            <a:ext cx="742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8F0C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681591" y="4750891"/>
            <a:ext cx="923640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Phase-0 benchmark of Qwen3.6 vs Gemma 4 vs Qwen3.5 before commitment; swap paths maintained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952500" y="5261818"/>
            <a:ext cx="16383000" cy="558552"/>
          </a:xfrm>
          <a:prstGeom prst="roundRect">
            <a:avLst>
              <a:gd name="adj" fmla="val 13642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9675" y="5436245"/>
            <a:ext cx="67732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88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PDPA non-compliance</a:t>
            </a:r>
            <a:endParaRPr lang="en-US" sz="1388" dirty="0"/>
          </a:p>
        </p:txBody>
      </p:sp>
      <p:sp>
        <p:nvSpPr>
          <p:cNvPr id="17" name="Shape 15"/>
          <p:cNvSpPr/>
          <p:nvPr/>
        </p:nvSpPr>
        <p:spPr>
          <a:xfrm>
            <a:off x="7595741" y="5431482"/>
            <a:ext cx="857250" cy="219075"/>
          </a:xfrm>
          <a:prstGeom prst="roundRect">
            <a:avLst>
              <a:gd name="adj" fmla="val 50000"/>
            </a:avLst>
          </a:prstGeom>
          <a:solidFill>
            <a:srgbClr val="F9E3E7"/>
          </a:solidFill>
          <a:ln/>
        </p:spPr>
      </p:sp>
      <p:sp>
        <p:nvSpPr>
          <p:cNvPr id="18" name="Text 16"/>
          <p:cNvSpPr/>
          <p:nvPr/>
        </p:nvSpPr>
        <p:spPr>
          <a:xfrm>
            <a:off x="7652891" y="5460057"/>
            <a:ext cx="742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8F0C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8681591" y="5423743"/>
            <a:ext cx="923640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Privacy-by-design, DPO appointed Day 1, five governance gates in code, annual audit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952500" y="5934670"/>
            <a:ext cx="16383000" cy="558552"/>
          </a:xfrm>
          <a:prstGeom prst="roundRect">
            <a:avLst>
              <a:gd name="adj" fmla="val 13642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9675" y="6109097"/>
            <a:ext cx="67732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88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integration complexity</a:t>
            </a:r>
            <a:endParaRPr lang="en-US" sz="1388" dirty="0"/>
          </a:p>
        </p:txBody>
      </p:sp>
      <p:sp>
        <p:nvSpPr>
          <p:cNvPr id="22" name="Shape 20"/>
          <p:cNvSpPr/>
          <p:nvPr/>
        </p:nvSpPr>
        <p:spPr>
          <a:xfrm>
            <a:off x="7595741" y="6104334"/>
            <a:ext cx="857250" cy="219075"/>
          </a:xfrm>
          <a:prstGeom prst="roundRect">
            <a:avLst>
              <a:gd name="adj" fmla="val 50000"/>
            </a:avLst>
          </a:prstGeom>
          <a:solidFill>
            <a:srgbClr val="EFEACF"/>
          </a:solidFill>
          <a:ln/>
        </p:spPr>
      </p:sp>
      <p:sp>
        <p:nvSpPr>
          <p:cNvPr id="23" name="Text 21"/>
          <p:cNvSpPr/>
          <p:nvPr/>
        </p:nvSpPr>
        <p:spPr>
          <a:xfrm>
            <a:off x="7652891" y="6132909"/>
            <a:ext cx="742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7A6B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8681591" y="6096595"/>
            <a:ext cx="923640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Phase-0 critical path, started Week 1 with Pusat ICT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952500" y="6607522"/>
            <a:ext cx="16383000" cy="558552"/>
          </a:xfrm>
          <a:prstGeom prst="roundRect">
            <a:avLst>
              <a:gd name="adj" fmla="val 13642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9675" y="6781949"/>
            <a:ext cx="67732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88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swarm attrition</a:t>
            </a:r>
            <a:endParaRPr lang="en-US" sz="1388" dirty="0"/>
          </a:p>
        </p:txBody>
      </p:sp>
      <p:sp>
        <p:nvSpPr>
          <p:cNvPr id="27" name="Shape 25"/>
          <p:cNvSpPr/>
          <p:nvPr/>
        </p:nvSpPr>
        <p:spPr>
          <a:xfrm>
            <a:off x="7595741" y="6777186"/>
            <a:ext cx="857250" cy="219075"/>
          </a:xfrm>
          <a:prstGeom prst="roundRect">
            <a:avLst>
              <a:gd name="adj" fmla="val 50000"/>
            </a:avLst>
          </a:prstGeom>
          <a:solidFill>
            <a:srgbClr val="EFEACF"/>
          </a:solidFill>
          <a:ln/>
        </p:spPr>
      </p:sp>
      <p:sp>
        <p:nvSpPr>
          <p:cNvPr id="28" name="Text 26"/>
          <p:cNvSpPr/>
          <p:nvPr/>
        </p:nvSpPr>
        <p:spPr>
          <a:xfrm>
            <a:off x="7652891" y="6805761"/>
            <a:ext cx="742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7A6B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8681591" y="6769447"/>
            <a:ext cx="923640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Incentive design, gamification, academic credit for participating students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952500" y="7280374"/>
            <a:ext cx="16383000" cy="558552"/>
          </a:xfrm>
          <a:prstGeom prst="roundRect">
            <a:avLst>
              <a:gd name="adj" fmla="val 13642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9675" y="7454801"/>
            <a:ext cx="67732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88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Phase-2 national compute never materialises</a:t>
            </a:r>
            <a:endParaRPr lang="en-US" sz="1388" dirty="0"/>
          </a:p>
        </p:txBody>
      </p:sp>
      <p:sp>
        <p:nvSpPr>
          <p:cNvPr id="32" name="Shape 30"/>
          <p:cNvSpPr/>
          <p:nvPr/>
        </p:nvSpPr>
        <p:spPr>
          <a:xfrm>
            <a:off x="7595741" y="7450038"/>
            <a:ext cx="857250" cy="219075"/>
          </a:xfrm>
          <a:prstGeom prst="roundRect">
            <a:avLst>
              <a:gd name="adj" fmla="val 50000"/>
            </a:avLst>
          </a:prstGeom>
          <a:solidFill>
            <a:srgbClr val="E2EAE4"/>
          </a:solidFill>
          <a:ln/>
        </p:spPr>
      </p:sp>
      <p:sp>
        <p:nvSpPr>
          <p:cNvPr id="33" name="Text 31"/>
          <p:cNvSpPr/>
          <p:nvPr/>
        </p:nvSpPr>
        <p:spPr>
          <a:xfrm>
            <a:off x="7652891" y="7478613"/>
            <a:ext cx="742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3F6B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8681591" y="7442299"/>
            <a:ext cx="923640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6E6D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35B is already production-viable — 100B is upside, not a dependency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E3E0D6"/>
          </a:solidFill>
          <a:ln/>
        </p:spPr>
      </p:sp>
      <p:sp>
        <p:nvSpPr>
          <p:cNvPr id="36" name="Text 34"/>
          <p:cNvSpPr/>
          <p:nvPr/>
        </p:nvSpPr>
        <p:spPr>
          <a:xfrm>
            <a:off x="952500" y="955357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E6D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ten-item risk register with likelihood ratings in SULUH v3.3 §10</a:t>
            </a:r>
            <a:endParaRPr lang="en-US" sz="9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gradFill rotWithShape="1">
            <a:gsLst>
              <a:gs pos="0">
                <a:srgbClr val="C8102E">
                  <a:alpha val="100000"/>
                </a:srgbClr>
              </a:gs>
              <a:gs pos="55000">
                <a:srgbClr val="7B2D8E">
                  <a:alpha val="100000"/>
                </a:srgbClr>
              </a:gs>
              <a:gs pos="100000">
                <a:srgbClr val="1F4E9E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1620500" y="457200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C8102E">
                  <a:alpha val="16000"/>
                </a:srgbClr>
              </a:gs>
              <a:gs pos="45000">
                <a:srgbClr val="7B2D8E">
                  <a:alpha val="8000"/>
                </a:srgbClr>
              </a:gs>
              <a:gs pos="70000">
                <a:srgbClr val="7B2D8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143000" y="1323975"/>
            <a:ext cx="16002000" cy="952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952500"/>
            <a:ext cx="14711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FF5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DECISION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6344900" y="9620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SULUH · 30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43000" y="2911971"/>
            <a:ext cx="14716125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951"/>
              </a:lnSpc>
              <a:buNone/>
            </a:pPr>
            <a:r>
              <a:rPr lang="en-US" sz="4500" spc="-67" kern="0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Approve RM 450K, and in 12 months UPSI owns Southeast Asia's first university-built sovereign educational AI.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143000" y="5117604"/>
            <a:ext cx="122634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by design, provable by IsRAG, breakeven by Month 14, shielded from RM 1M liability by governance in code — with every byte of student data staying home.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43000" y="7439025"/>
            <a:ext cx="16002000" cy="9525"/>
          </a:xfrm>
          <a:prstGeom prst="rect">
            <a:avLst/>
          </a:prstGeom>
          <a:solidFill>
            <a:srgbClr val="23283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7791450"/>
            <a:ext cx="56717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INVESTMENT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43000" y="8048625"/>
            <a:ext cx="567176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450K · 12 mo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43000" y="8543925"/>
            <a:ext cx="56717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200K hardware + 250K team, phased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65850" y="7791450"/>
            <a:ext cx="56717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RETURN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565850" y="8048625"/>
            <a:ext cx="567176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 240–600K saved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565850" y="8543925"/>
            <a:ext cx="56717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Month 36 — plus breach risk removed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988701" y="7791450"/>
            <a:ext cx="56717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8A9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UPSIDE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988701" y="8048625"/>
            <a:ext cx="567176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AF9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 papers · 4 systems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988701" y="8543925"/>
            <a:ext cx="56717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at UPSI · first-mover seat · Phase-2 to 100B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9058275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i="1" dirty="0">
                <a:solidFill>
                  <a:srgbClr val="FF8A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"Pengetahuan Suluh Budiman" — the torch was always ours to carry. SULUH simply lights it for the age of AI.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2026-07-22T17:32:51Z</dcterms:created>
  <dcterms:modified xsi:type="dcterms:W3CDTF">2026-07-22T17:32:51Z</dcterms:modified>
</cp:coreProperties>
</file>